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3b99b0207f4c2d" /><Relationship Type="http://schemas.openxmlformats.org/officeDocument/2006/relationships/extended-properties" Target="/docProps/app.xml" Id="R9652875aa9f042da" /><Relationship Type="http://schemas.openxmlformats.org/officeDocument/2006/relationships/officeDocument" Target="/ppt/presentation.xml" Id="R7d59645d14ce48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2d6d5c270d4441"/>
  </p:sldMasterIdLst>
  <p:notesMasterIdLst>
    <p:notesMasterId xmlns:r="http://schemas.openxmlformats.org/officeDocument/2006/relationships" r:id="Re35f6098823a495f"/>
  </p:notesMasterIdLst>
  <p:sldIdLst>
    <p:sldId xmlns:r="http://schemas.openxmlformats.org/officeDocument/2006/relationships" id="256" r:id="R3a93b854f2404bf0"/>
    <p:sldId xmlns:r="http://schemas.openxmlformats.org/officeDocument/2006/relationships" id="257" r:id="R25f1d328db8f4dcf"/>
    <p:sldId xmlns:r="http://schemas.openxmlformats.org/officeDocument/2006/relationships" id="258" r:id="Rfbb4c90f96a84b67"/>
    <p:sldId xmlns:r="http://schemas.openxmlformats.org/officeDocument/2006/relationships" id="259" r:id="R10601e95786e4b18"/>
    <p:sldId xmlns:r="http://schemas.openxmlformats.org/officeDocument/2006/relationships" id="260" r:id="Rd1a8758a67234376"/>
    <p:sldId xmlns:r="http://schemas.openxmlformats.org/officeDocument/2006/relationships" id="261" r:id="Rc03e30153d78404e"/>
    <p:sldId xmlns:r="http://schemas.openxmlformats.org/officeDocument/2006/relationships" id="262" r:id="R3b0505e7be584534"/>
    <p:sldId xmlns:r="http://schemas.openxmlformats.org/officeDocument/2006/relationships" id="263" r:id="Ra8c589bfdb034cf4"/>
    <p:sldId xmlns:r="http://schemas.openxmlformats.org/officeDocument/2006/relationships" id="264" r:id="R7f57eeeedf804682"/>
    <p:sldId xmlns:r="http://schemas.openxmlformats.org/officeDocument/2006/relationships" id="265" r:id="Re1935d9250a54b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b0e32cf563481e" /><Relationship Type="http://schemas.openxmlformats.org/officeDocument/2006/relationships/slideMaster" Target="/ppt/slideMasters/slideMaster1.xml" Id="Re02d6d5c270d4441" /><Relationship Type="http://schemas.openxmlformats.org/officeDocument/2006/relationships/notesMaster" Target="/ppt/notesMasters/notesMaster1.xml" Id="Re35f6098823a495f" /><Relationship Type="http://schemas.openxmlformats.org/officeDocument/2006/relationships/presProps" Target="/ppt/presProps.xml" Id="R73d79f6f54b64636" /><Relationship Type="http://schemas.openxmlformats.org/officeDocument/2006/relationships/tableStyles" Target="/ppt/tableStyles.xml" Id="R3b3b47be45374e3c" /><Relationship Type="http://schemas.openxmlformats.org/officeDocument/2006/relationships/slide" Target="/ppt/slides/slide1.xml" Id="R3a93b854f2404bf0" /><Relationship Type="http://schemas.openxmlformats.org/officeDocument/2006/relationships/slide" Target="/ppt/slides/slide2.xml" Id="R25f1d328db8f4dcf" /><Relationship Type="http://schemas.openxmlformats.org/officeDocument/2006/relationships/slide" Target="/ppt/slides/slide3.xml" Id="Rfbb4c90f96a84b67" /><Relationship Type="http://schemas.openxmlformats.org/officeDocument/2006/relationships/slide" Target="/ppt/slides/slide4.xml" Id="R10601e95786e4b18" /><Relationship Type="http://schemas.openxmlformats.org/officeDocument/2006/relationships/slide" Target="/ppt/slides/slide5.xml" Id="Rd1a8758a67234376" /><Relationship Type="http://schemas.openxmlformats.org/officeDocument/2006/relationships/slide" Target="/ppt/slides/slide6.xml" Id="Rc03e30153d78404e" /><Relationship Type="http://schemas.openxmlformats.org/officeDocument/2006/relationships/slide" Target="/ppt/slides/slide7.xml" Id="R3b0505e7be584534" /><Relationship Type="http://schemas.openxmlformats.org/officeDocument/2006/relationships/slide" Target="/ppt/slides/slide8.xml" Id="Ra8c589bfdb034cf4" /><Relationship Type="http://schemas.openxmlformats.org/officeDocument/2006/relationships/slide" Target="/ppt/slides/slide9.xml" Id="R7f57eeeedf804682" /><Relationship Type="http://schemas.openxmlformats.org/officeDocument/2006/relationships/slide" Target="/ppt/slides/slide10.xml" Id="Re1935d9250a54b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8bb3b6ae4340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ba13731756485d" /><Relationship Type="http://schemas.openxmlformats.org/officeDocument/2006/relationships/notesMaster" Target="/ppt/notesMasters/notesMaster1.xml" Id="R8be9a2fb8edf4e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7f303148e04e8f" /><Relationship Type="http://schemas.openxmlformats.org/officeDocument/2006/relationships/notesMaster" Target="/ppt/notesMasters/notesMaster1.xml" Id="Ra3d3264d1f0347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2f94ed5fb2490f" /><Relationship Type="http://schemas.openxmlformats.org/officeDocument/2006/relationships/notesMaster" Target="/ppt/notesMasters/notesMaster1.xml" Id="R837c9fbddb604c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3a6ad703824059" /><Relationship Type="http://schemas.openxmlformats.org/officeDocument/2006/relationships/notesMaster" Target="/ppt/notesMasters/notesMaster1.xml" Id="Rf7e0cf49056f4d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239f616e0c4231" /><Relationship Type="http://schemas.openxmlformats.org/officeDocument/2006/relationships/notesMaster" Target="/ppt/notesMasters/notesMaster1.xml" Id="Rf0986bdfc3ad47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3bfe6341bf4395" /><Relationship Type="http://schemas.openxmlformats.org/officeDocument/2006/relationships/notesMaster" Target="/ppt/notesMasters/notesMaster1.xml" Id="Rb5077b15b80e42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17228b292e45c3" /><Relationship Type="http://schemas.openxmlformats.org/officeDocument/2006/relationships/notesMaster" Target="/ppt/notesMasters/notesMaster1.xml" Id="R85af3ce0a1b947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e0808ce3e64308" /><Relationship Type="http://schemas.openxmlformats.org/officeDocument/2006/relationships/notesMaster" Target="/ppt/notesMasters/notesMaster1.xml" Id="R149ac760d3174b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1c216f9242454b" /><Relationship Type="http://schemas.openxmlformats.org/officeDocument/2006/relationships/notesMaster" Target="/ppt/notesMasters/notesMaster1.xml" Id="R4f24e960c7b140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1f2d515d9c4015" /><Relationship Type="http://schemas.openxmlformats.org/officeDocument/2006/relationships/notesMaster" Target="/ppt/notesMasters/notesMaster1.xml" Id="Rb521e8eb076349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 reference implementation prepared for the project topic. Replace all bracketed identity fields before submission. This deck describes a digital model, not a completed physical street-light installation.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Assumed sensor convention: D=1 means daylight and D=0 means darkness. Logisim input pins stand in for sensor electronics.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Qualitative design comparison, not an experimental literature survey. The timer and manual alternatives are conceptual baselines. Logic implementation references: https://www.cburch.com/logisim/docs/2.7/en/html/libs/gates/not.html and https://www.cburch.com/logisim/docs/2.7/en/html/libs/gates/basic.html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master enable has highest priority. Manual ON is an intentional override and may keep the lamp on during daylight. Source for elementary gate functions: https://www.cburch.com/logisim/docs/2.7/en/html/libs/gates/basic.html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functional block diagram. D represents a thresholded sensor signal. NOT creates darkness demand, OR includes manual demand, and AND applies master enable.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Circuit target: classic Logisim 2.7.1. All gate inputs use one bit. Official NOT gate reference: https://www.cburch.com/logisim/docs/2.7/en/html/libs/gates/not.html. Official gate reference: https://www.cburch.com/logisim/docs/2.7/en/html/libs/gates/basic.html. Actual simulator execution has not been verified in this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expected outputs, not measured simulator results. A Python checker in src checks circuit topology and all eight Boolean combinations independently. Record actual Logisim observations in results/simulation_observations.csv.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and files are prepared. Do not claim physical deployment, measured energy savings or completed Logisim testing without evidence. Hysteresis is a proposed future hardware feature, absent from this digital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e0b91fd22740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916ca4a9da4856" /><Relationship Type="http://schemas.openxmlformats.org/officeDocument/2006/relationships/slideLayout" Target="/ppt/slideLayouts/slideLayout1.xml" Id="R11a3005db02b4b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a3005db02b4b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cd4382b574afc" /><Relationship Type="http://schemas.openxmlformats.org/officeDocument/2006/relationships/notesSlide" Target="/ppt/notesSlides/notesSlide1.xml" Id="Re639d1d929bd4c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73cab164f4e07" /><Relationship Type="http://schemas.openxmlformats.org/officeDocument/2006/relationships/notesSlide" Target="/ppt/notesSlides/notesSlide2.xml" Id="R1752f897702447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3a69973cd4ace" /><Relationship Type="http://schemas.openxmlformats.org/officeDocument/2006/relationships/notesSlide" Target="/ppt/notesSlides/notesSlide3.xml" Id="Rdb05076f8cc541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80a054a2d4e5c" /><Relationship Type="http://schemas.openxmlformats.org/officeDocument/2006/relationships/notesSlide" Target="/ppt/notesSlides/notesSlide4.xml" Id="Rb240b5ebd5174d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6b35111ea4075" /><Relationship Type="http://schemas.openxmlformats.org/officeDocument/2006/relationships/notesSlide" Target="/ppt/notesSlides/notesSlide5.xml" Id="R9ac576f3d8b344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c6ff0edad40fb" /><Relationship Type="http://schemas.openxmlformats.org/officeDocument/2006/relationships/notesSlide" Target="/ppt/notesSlides/notesSlide6.xml" Id="R3649f266682c4f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643cb2f584bcf" /><Relationship Type="http://schemas.openxmlformats.org/officeDocument/2006/relationships/notesSlide" Target="/ppt/notesSlides/notesSlide7.xml" Id="R4b5ba741c2f849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970cc21dc4cff" /><Relationship Type="http://schemas.openxmlformats.org/officeDocument/2006/relationships/notesSlide" Target="/ppt/notesSlides/notesSlide8.xml" Id="Rc34d318f08a743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4de5498df47a2" /><Relationship Type="http://schemas.openxmlformats.org/officeDocument/2006/relationships/notesSlide" Target="/ppt/notesSlides/notesSlide9.xml" Id="R57d771f432e745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694c8d1bc4d1b" /><Relationship Type="http://schemas.openxmlformats.org/officeDocument/2006/relationships/notesSlide" Target="/ppt/notesSlides/notesSlide10.xml" Id="R7c20a19021a749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A7CF4-8B71-4A1E-8453-243AB26C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and Simulation of an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Automatic Street Light Control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5255A-8F26-427D-9407-5E4706F5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83365-C358-4E74-840B-9374A833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9C6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9C65A"/>
                </a:solidFill>
                <a:latin typeface="Arial"/>
                <a:ea typeface="Arial"/>
                <a:cs typeface="Arial"/>
              </a:rPr>
              <a:t>DDCA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1A9E8-7C60-429E-84C4-96FD2D78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Digital logic model in Logisim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A3CD6-F97D-44D8-902C-595911A5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10668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Students: [Names and roll numbers]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Guide: [Guide name]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Department: [Department]   College: [College]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Academic year: [Academic year]   Team: [Team ID]</a:t>
            </a:r>
          </a:p>
        </p:txBody>
      </p:sp>
    </p:spTree>
    <p:extLst>
      <p:ext uri="{BB962C8B-B14F-4D97-AF65-F5344CB8AC3E}">
        <p14:creationId xmlns:p14="http://schemas.microsoft.com/office/powerpoint/2010/main" val="4880473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DD6FD-F16D-4ED6-B5B9-633BDB9B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48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C650B-11DA-4E16-ACC4-63875EF5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385B1-BFF5-4978-90FE-F9B52D55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26934-5B01-4847-B8A1-01EFB3BC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48"/>
                </a:solidFill>
                <a:latin typeface="Arial"/>
                <a:ea typeface="Arial"/>
                <a:cs typeface="Arial"/>
              </a:rPr>
              <a:t>Street lights should respond to changes in ambient light.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ABC25-261C-4127-B402-D607E5DE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Digital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CCA27-DB42-40E6-98C0-2B01E60E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90825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48"/>
                </a:solidFill>
                <a:latin typeface="Arial"/>
                <a:ea typeface="Arial"/>
                <a:cs typeface="Arial"/>
              </a:rPr>
              <a:t>A binary daylight input represents the output of a light-sensing stage.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C78CB-6674-4B5A-B5B1-E8A62759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Control 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0B3A8-66C8-4D8F-801A-CC3BBAC9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9525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48"/>
                </a:solidFill>
                <a:latin typeface="Arial"/>
                <a:ea typeface="Arial"/>
                <a:cs typeface="Arial"/>
              </a:rPr>
              <a:t>In automatic mode, darkness turns the lamp ON and daylight turns it 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652CC-51A8-48D6-8FDC-488D22C4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DDCA concepts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B5B47-7BD8-4198-B8AF-8952603D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48225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48"/>
                </a:solidFill>
                <a:latin typeface="Arial"/>
                <a:ea typeface="Arial"/>
                <a:cs typeface="Arial"/>
              </a:rPr>
              <a:t>Boolean algebra, combinational gates and truth-table verification.</a:t>
            </a:r>
          </a:p>
        </p:txBody>
      </p:sp>
    </p:spTree>
    <p:extLst>
      <p:ext uri="{BB962C8B-B14F-4D97-AF65-F5344CB8AC3E}">
        <p14:creationId xmlns:p14="http://schemas.microsoft.com/office/powerpoint/2010/main" val="601962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7A53D-3B23-402B-8B38-A31BABF4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48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2E393-110A-40A0-9F56-448AECDB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E16CD-9D8D-4A81-958E-8D118A66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How can a simple logic circuit switch a street light according to daylight?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99B45-14F3-44EB-8624-92A96BDB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Manual operation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09D24-8506-46E3-9B44-3998A085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48"/>
                </a:solidFill>
                <a:latin typeface="Arial"/>
                <a:ea typeface="Arial"/>
                <a:cs typeface="Arial"/>
              </a:rPr>
              <a:t>A person must switch the lamp at the appropriate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3A3F5-B10E-439A-887E-708DE458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Required behavior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2160C-F194-4301-98B4-B75F84AC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62450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48"/>
                </a:solidFill>
                <a:latin typeface="Arial"/>
                <a:ea typeface="Arial"/>
                <a:cs typeface="Arial"/>
              </a:rPr>
              <a:t>Provide automatic switching, a master disable and a manual ON command.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29F29-D70F-4325-9DA7-9A60A5D0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Project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B568E-081E-4FD0-898E-9B096E0D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91150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48"/>
                </a:solidFill>
                <a:latin typeface="Arial"/>
                <a:ea typeface="Arial"/>
                <a:cs typeface="Arial"/>
              </a:rPr>
              <a:t>Model logical decisions. Sensor voltages, lamp power and energy savings require separate hardware tests.</a:t>
            </a:r>
          </a:p>
        </p:txBody>
      </p:sp>
    </p:spTree>
    <p:extLst>
      <p:ext uri="{BB962C8B-B14F-4D97-AF65-F5344CB8AC3E}">
        <p14:creationId xmlns:p14="http://schemas.microsoft.com/office/powerpoint/2010/main" val="9232750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36118-0B45-495E-BC69-6DDE4B6A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48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EAB5F-448B-4BBB-BF6A-A674ECBA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8DC56-48A8-41FB-871F-E0B9DAC5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01  Define 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7EE25-4874-46EC-A842-6D967FD8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48"/>
                </a:solidFill>
                <a:latin typeface="Arial"/>
                <a:ea typeface="Arial"/>
                <a:cs typeface="Arial"/>
              </a:rPr>
              <a:t>Specify daylight D, master enable E and manual ON 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6DECB-D1BD-4F17-AD10-0C93AB70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02  Derive logic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E0CAC-2AE4-4327-A118-516FD0D2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90825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48"/>
                </a:solidFill>
                <a:latin typeface="Arial"/>
                <a:ea typeface="Arial"/>
                <a:cs typeface="Arial"/>
              </a:rPr>
              <a:t>Implement L = E AND ((NOT D) OR M).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07227-CA96-4928-ABF3-5798E170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03  Build the circuit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EE9DD-1FD6-45DF-B11B-0B2E8825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9525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48"/>
                </a:solidFill>
                <a:latin typeface="Arial"/>
                <a:ea typeface="Arial"/>
                <a:cs typeface="Arial"/>
              </a:rPr>
              <a:t>Connect one NOT gate, one OR gate and one AND gate in Logisim.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D88B1-AD90-4627-99E2-9CD84C35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04  Verify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0903A-93A9-40C7-8DC4-25E47CF0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48225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48"/>
                </a:solidFill>
                <a:latin typeface="Arial"/>
                <a:ea typeface="Arial"/>
                <a:cs typeface="Arial"/>
              </a:rPr>
              <a:t>Check all eight binary input combinations and record lamp output L.</a:t>
            </a:r>
          </a:p>
        </p:txBody>
      </p:sp>
    </p:spTree>
    <p:extLst>
      <p:ext uri="{BB962C8B-B14F-4D97-AF65-F5344CB8AC3E}">
        <p14:creationId xmlns:p14="http://schemas.microsoft.com/office/powerpoint/2010/main" val="2141355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D7B18-123B-4B80-8471-1E888291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48"/>
                </a:solidFill>
                <a:latin typeface="Arial"/>
                <a:ea typeface="Arial"/>
                <a:cs typeface="Arial"/>
              </a:rPr>
              <a:t>Existing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FE8BD-0D7C-4D94-A95F-5994BFF1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905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Approach</a:t>
                      </a:r>
                    </a:p>
                  </a:txBody>
                  <a:tcPr marL="91440" marR="91440" marT="45720" marB="4572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Switching basis</a:t>
                      </a:r>
                    </a:p>
                  </a:txBody>
                  <a:tcPr marL="91440" marR="91440" marT="45720" marB="4572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Limitation</a:t>
                      </a:r>
                    </a:p>
                  </a:txBody>
                  <a:tcPr marL="91440" marR="91440" marT="45720" marB="45720">
                    <a:solidFill>
                      <a:srgbClr val="102B3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Manual switching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Operator 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Requires timely 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Fixed timer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Scheduled time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Does not directly sense light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Light-based 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Ambient light level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Needs a defined threshold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D401B-0E9C-4CC8-AD3D-8A721AFA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Project choice: a digital light-based controller with an enable switch and manual ON override.</a:t>
            </a:r>
          </a:p>
        </p:txBody>
      </p:sp>
    </p:spTree>
    <p:extLst>
      <p:ext uri="{BB962C8B-B14F-4D97-AF65-F5344CB8AC3E}">
        <p14:creationId xmlns:p14="http://schemas.microsoft.com/office/powerpoint/2010/main" val="1275556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A7FB4-6C73-4391-AAEF-6E4699B5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81C04-EC9B-4EB9-8CE4-96D00B68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313E3-F341-4FC6-81F6-2345361C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9C65A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9C65A"/>
                </a:solidFill>
                <a:latin typeface="Arial"/>
                <a:ea typeface="Arial"/>
                <a:cs typeface="Arial"/>
              </a:rPr>
              <a:t>L = E AND ((NOT D) OR M)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4ABDD-D799-48FE-83AE-40DAB2CB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 = 1: daylight      E = 1: enabled      M = 1: manual 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2EB73-5B5A-4B1C-83FD-7E30E12B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 = 0 always switches the lamp OFF.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E = 1 and M = 0, the lamp follows darkness.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E = 1 and M = 1, the lamp stays ON.</a:t>
            </a:r>
          </a:p>
        </p:txBody>
      </p:sp>
    </p:spTree>
    <p:extLst>
      <p:ext uri="{BB962C8B-B14F-4D97-AF65-F5344CB8AC3E}">
        <p14:creationId xmlns:p14="http://schemas.microsoft.com/office/powerpoint/2010/main" val="15289044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A06694-696E-4369-825C-F8FD2B2F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48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BAE0C-75A9-407E-952D-CAEE192A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ACB19-D18B-455A-9DF9-732AE70D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90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8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B0368-CFD4-429B-9FA0-B73EEAEC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62175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448"/>
                </a:solidFill>
                <a:latin typeface="Arial"/>
                <a:ea typeface="Arial"/>
                <a:cs typeface="Arial"/>
              </a:rPr>
              <a:t>Daylight 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69F59-E2F8-4739-8E3B-06BDE935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81200"/>
            <a:ext cx="1476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8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7BCA6-7515-4B22-900C-0CB305B8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62175"/>
            <a:ext cx="119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448"/>
                </a:solidFill>
                <a:latin typeface="Arial"/>
                <a:ea typeface="Arial"/>
                <a:cs typeface="Arial"/>
              </a:rPr>
              <a:t>NOT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94509-44FF-43BD-9DA5-29DB3C2F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981200"/>
            <a:ext cx="1476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8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3FD30-9176-4935-B5DB-50287BE1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62175"/>
            <a:ext cx="119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448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0331F-5919-43BE-B26B-892FAF12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81200"/>
            <a:ext cx="1476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8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6CF2D-AF80-4806-B3A8-BABC7CF2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62175"/>
            <a:ext cx="119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448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05AB0-1F7F-48E9-AB48-38880246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81200"/>
            <a:ext cx="1476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8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100DC-88C1-4B8B-8B23-A5654C63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162175"/>
            <a:ext cx="119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448"/>
                </a:solidFill>
                <a:latin typeface="Arial"/>
                <a:ea typeface="Arial"/>
                <a:cs typeface="Arial"/>
              </a:rPr>
              <a:t>Lamp 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F1385-C965-4FA8-8836-6DD7D62E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90775"/>
            <a:ext cx="5810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87E8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7C3C2-93A5-49CE-B182-9773212B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90775"/>
            <a:ext cx="10001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87E8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71081-1772-41FF-8EA0-1CC82C50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90775"/>
            <a:ext cx="10001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87E8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1E00C-529E-403E-849C-B54965D9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90775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87E8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E3DC3-CD4E-42ED-8C93-478F5B62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29050"/>
            <a:ext cx="2047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8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9A97DC-9EC4-4DF0-8D74-DD2E6E49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10025"/>
            <a:ext cx="1762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448"/>
                </a:solidFill>
                <a:latin typeface="Arial"/>
                <a:ea typeface="Arial"/>
                <a:cs typeface="Arial"/>
              </a:rPr>
              <a:t>Manual ON 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0B2E9-04F6-448E-BD6D-3A835759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00350"/>
            <a:ext cx="0" cy="10287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87E8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54919-0B1E-4FB2-99B8-776A9A00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29050"/>
            <a:ext cx="2047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8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036D2C-2E8A-40EF-9A97-183BAFBA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0025"/>
            <a:ext cx="1762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448"/>
                </a:solidFill>
                <a:latin typeface="Arial"/>
                <a:ea typeface="Arial"/>
                <a:cs typeface="Arial"/>
              </a:rPr>
              <a:t>Enable 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AD2F91-EB59-4634-AEE7-4DBA821C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00350"/>
            <a:ext cx="0" cy="10287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87E8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8FE6A1-F620-40DD-9A27-39B4FC61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Signal flow runs left to right. The output pin represents the lamp command.</a:t>
            </a:r>
          </a:p>
        </p:txBody>
      </p:sp>
    </p:spTree>
    <p:extLst>
      <p:ext uri="{BB962C8B-B14F-4D97-AF65-F5344CB8AC3E}">
        <p14:creationId xmlns:p14="http://schemas.microsoft.com/office/powerpoint/2010/main" val="1255485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CB040-A90E-48E9-A96B-B07B59ED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48"/>
                </a:solidFill>
                <a:latin typeface="Arial"/>
                <a:ea typeface="Arial"/>
                <a:cs typeface="Arial"/>
              </a:rPr>
              <a:t>Methodology and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F8B0D-7519-42DE-9D19-69F122EE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C1202-709F-4906-BD38-A99D722A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Input definitions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EB216-E4B9-4368-8C5C-A1197B12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48"/>
                </a:solidFill>
                <a:latin typeface="Arial"/>
                <a:ea typeface="Arial"/>
                <a:cs typeface="Arial"/>
              </a:rPr>
              <a:t>Use three 1-bit input pins: D, E and 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92ED8-8533-4194-AF26-7ABC710F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Logic stages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F719E-B05E-4FFE-8ACC-1877901B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90825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48"/>
                </a:solidFill>
                <a:latin typeface="Arial"/>
                <a:ea typeface="Arial"/>
                <a:cs typeface="Arial"/>
              </a:rPr>
              <a:t>Invert D. OR the result with M. AND that result with 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31F77-595F-4C8F-9B12-61B788EB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Lamp indication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FAA2F-9BB9-4D1D-8055-2BA3FE97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9525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48"/>
                </a:solidFill>
                <a:latin typeface="Arial"/>
                <a:ea typeface="Arial"/>
                <a:cs typeface="Arial"/>
              </a:rPr>
              <a:t>Connect the final output to pin L and an LED indicator.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6070F-6B29-48AD-B48B-AEEEADE3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Simulation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A140D-1450-4EF7-8459-B50213A5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48225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48"/>
                </a:solidFill>
                <a:latin typeface="Arial"/>
                <a:ea typeface="Arial"/>
                <a:cs typeface="Arial"/>
              </a:rPr>
              <a:t>Open the .circ file, use the Poke tool to toggle inputs, and compare each state with the truth table.</a:t>
            </a:r>
          </a:p>
        </p:txBody>
      </p:sp>
    </p:spTree>
    <p:extLst>
      <p:ext uri="{BB962C8B-B14F-4D97-AF65-F5344CB8AC3E}">
        <p14:creationId xmlns:p14="http://schemas.microsoft.com/office/powerpoint/2010/main" val="13179522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25050-34C3-422C-8514-DCDE7EC0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448"/>
                </a:solidFill>
                <a:latin typeface="Arial"/>
                <a:ea typeface="Arial"/>
                <a:cs typeface="Arial"/>
              </a:rPr>
              <a:t>Results and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E82A5-ACB2-48A0-99D1-579DF93B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5905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1476375"/>
                <a:gridCol w="1476375"/>
                <a:gridCol w="1476375"/>
              </a:tblGrid>
              <a:tr h="45508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1440" marR="91440" marT="45720" marB="45720"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 L</a:t>
                      </a:r>
                    </a:p>
                  </a:txBody>
                  <a:tcPr marL="91440" marR="91440" marT="45720" marB="45720">
                    <a:solidFill>
                      <a:srgbClr val="102B3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44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8F0F2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DDB7F-52FD-46E4-829C-B2059ED7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6687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Expected logical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FEE50-7C5F-4820-ACF6-479E7746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76500"/>
            <a:ext cx="4191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48"/>
                </a:solidFill>
                <a:latin typeface="Arial"/>
                <a:ea typeface="Arial"/>
                <a:cs typeface="Arial"/>
              </a:rPr>
              <a:t>Master disabled: OFF in all four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48"/>
                </a:solidFill>
                <a:latin typeface="Arial"/>
                <a:ea typeface="Arial"/>
                <a:cs typeface="Arial"/>
              </a:rPr>
              <a:t>Automatic mode: ON at night, OFF during daylight.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4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448"/>
                </a:solidFill>
                <a:latin typeface="Arial"/>
                <a:ea typeface="Arial"/>
                <a:cs typeface="Arial"/>
              </a:rPr>
              <a:t>Manual ON: ON when enabled.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D9D9B-87AC-47BE-8AA1-C7AAF4B7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33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575"/>
                </a:solidFill>
                <a:latin typeface="Arial"/>
                <a:ea typeface="Arial"/>
                <a:cs typeface="Arial"/>
              </a:rPr>
              <a:t>Truth table derived from the equation. Logisim run and output screenshots remain to be recorded.</a:t>
            </a:r>
          </a:p>
        </p:txBody>
      </p:sp>
    </p:spTree>
    <p:extLst>
      <p:ext uri="{BB962C8B-B14F-4D97-AF65-F5344CB8AC3E}">
        <p14:creationId xmlns:p14="http://schemas.microsoft.com/office/powerpoint/2010/main" val="11576422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79AAB-6642-4E1D-AAF9-3139558D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1CA2C-A28D-4B02-B669-ECB1C127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821B1-8FC8-4990-8AD5-107BE075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9C65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9C65A"/>
                </a:solidFill>
                <a:latin typeface="Arial"/>
                <a:ea typeface="Arial"/>
                <a:cs typeface="Arial"/>
              </a:rPr>
              <a:t>A three-gate design expresses the complete control rule.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CED1C-48A2-4714-9C79-D9B16A1B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668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design supports automatic switching, master disable and manual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truth table defines the output for every input combination.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validation: run the circuit in Logisim and save observed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hardware: a light sensor with hysteresis and a suitable lamp driver.</a:t>
            </a:r>
          </a:p>
        </p:txBody>
      </p:sp>
    </p:spTree>
    <p:extLst>
      <p:ext uri="{BB962C8B-B14F-4D97-AF65-F5344CB8AC3E}">
        <p14:creationId xmlns:p14="http://schemas.microsoft.com/office/powerpoint/2010/main" val="1068544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2026-09-19T07:54:21.2180000Z</dcterms:created>
  <dcterms:modified xsi:type="dcterms:W3CDTF">2026-09-19T07:54:21.2270000Z</dcterms:modified>
</coreProperties>
</file>