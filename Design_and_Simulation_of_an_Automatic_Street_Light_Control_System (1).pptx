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Bricolage Grotesque Bold" panose="020B0604020202020204" charset="0"/>
      <p:regular r:id="rId15"/>
    </p:embeddedFont>
    <p:embeddedFont>
      <p:font typeface="Bricolage Grotesque ExtraBold" panose="020B0604020202020204" charset="0"/>
      <p:regular r:id="rId16"/>
    </p:embeddedFont>
    <p:embeddedFont>
      <p:font typeface="Montserrat" panose="00000500000000000000" pitchFamily="2" charset="0"/>
      <p:regular r:id="rId17"/>
    </p:embeddedFont>
    <p:embeddedFont>
      <p:font typeface="Montserrat Bold" panose="020B0604020202020204" charset="0"/>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33" d="100"/>
          <a:sy n="33" d="100"/>
        </p:scale>
        <p:origin x="629"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9130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sp>
        <p:nvSpPr>
          <p:cNvPr id="4" name="Shape 2"/>
          <p:cNvSpPr/>
          <p:nvPr/>
        </p:nvSpPr>
        <p:spPr>
          <a:xfrm>
            <a:off x="0" y="0"/>
            <a:ext cx="12191695" cy="6858000"/>
          </a:xfrm>
          <a:prstGeom prst="rect">
            <a:avLst/>
          </a:prstGeom>
          <a:solidFill>
            <a:srgbClr val="000000"/>
          </a:solidFill>
          <a:ln/>
        </p:spPr>
      </p:sp>
      <p:pic>
        <p:nvPicPr>
          <p:cNvPr id="5"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282D5E"/>
          </a:solidFill>
          <a:ln/>
        </p:spPr>
      </p:sp>
      <p:sp>
        <p:nvSpPr>
          <p:cNvPr id="3" name="Shape 1"/>
          <p:cNvSpPr/>
          <p:nvPr/>
        </p:nvSpPr>
        <p:spPr>
          <a:xfrm>
            <a:off x="0" y="0"/>
            <a:ext cx="12191695" cy="6858000"/>
          </a:xfrm>
          <a:prstGeom prst="rect">
            <a:avLst/>
          </a:prstGeom>
          <a:solidFill>
            <a:srgbClr val="090E3F"/>
          </a:solidFill>
          <a:ln/>
        </p:spPr>
      </p:sp>
      <p:sp>
        <p:nvSpPr>
          <p:cNvPr id="4" name="Shape 2"/>
          <p:cNvSpPr/>
          <p:nvPr/>
        </p:nvSpPr>
        <p:spPr>
          <a:xfrm>
            <a:off x="0" y="0"/>
            <a:ext cx="12191695" cy="6858000"/>
          </a:xfrm>
          <a:prstGeom prst="rect">
            <a:avLst/>
          </a:prstGeom>
          <a:solidFill>
            <a:srgbClr val="000000"/>
          </a:solidFill>
          <a:ln/>
        </p:spPr>
      </p:sp>
      <p:pic>
        <p:nvPicPr>
          <p:cNvPr id="5" name="Image 0" descr="preencoded.png"/>
          <p:cNvPicPr>
            <a:picLocks noChangeAspect="1"/>
          </p:cNvPicPr>
          <p:nvPr/>
        </p:nvPicPr>
        <p:blipFill>
          <a:blip r:embed="rId2"/>
          <a:stretch>
            <a:fillRect/>
          </a:stretch>
        </p:blipFill>
        <p:spPr>
          <a:xfrm>
            <a:off x="0" y="0"/>
            <a:ext cx="12191695" cy="6858000"/>
          </a:xfrm>
          <a:prstGeom prst="rect">
            <a:avLst/>
          </a:prstGeom>
        </p:spPr>
      </p:pic>
      <p:pic>
        <p:nvPicPr>
          <p:cNvPr id="6"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8790" y="0"/>
                </a:moveTo>
                <a:lnTo>
                  <a:pt x="100000" y="0"/>
                </a:lnTo>
                <a:lnTo>
                  <a:pt x="100000" y="100000"/>
                </a:lnTo>
                <a:lnTo>
                  <a:pt x="13180" y="99900"/>
                </a:lnTo>
                <a:lnTo>
                  <a:pt x="8110" y="91990"/>
                </a:lnTo>
                <a:lnTo>
                  <a:pt x="4200" y="84670"/>
                </a:lnTo>
                <a:lnTo>
                  <a:pt x="2640" y="81150"/>
                </a:lnTo>
                <a:lnTo>
                  <a:pt x="1270" y="77440"/>
                </a:lnTo>
                <a:lnTo>
                  <a:pt x="490" y="74610"/>
                </a:lnTo>
                <a:lnTo>
                  <a:pt x="0" y="71480"/>
                </a:lnTo>
                <a:lnTo>
                  <a:pt x="200" y="67290"/>
                </a:lnTo>
                <a:lnTo>
                  <a:pt x="1270" y="63280"/>
                </a:lnTo>
                <a:lnTo>
                  <a:pt x="2830" y="59860"/>
                </a:lnTo>
                <a:lnTo>
                  <a:pt x="5080" y="56050"/>
                </a:lnTo>
                <a:lnTo>
                  <a:pt x="6840" y="52540"/>
                </a:lnTo>
                <a:lnTo>
                  <a:pt x="7910" y="49610"/>
                </a:lnTo>
                <a:lnTo>
                  <a:pt x="8690" y="45700"/>
                </a:lnTo>
                <a:lnTo>
                  <a:pt x="8790" y="40140"/>
                </a:lnTo>
                <a:lnTo>
                  <a:pt x="8590" y="36520"/>
                </a:lnTo>
                <a:lnTo>
                  <a:pt x="8110" y="31930"/>
                </a:lnTo>
                <a:lnTo>
                  <a:pt x="6540" y="21970"/>
                </a:lnTo>
                <a:lnTo>
                  <a:pt x="6150" y="14750"/>
                </a:lnTo>
                <a:lnTo>
                  <a:pt x="6450" y="10350"/>
                </a:lnTo>
                <a:lnTo>
                  <a:pt x="6930" y="7030"/>
                </a:lnTo>
                <a:lnTo>
                  <a:pt x="7910" y="2640"/>
                </a:lnTo>
                <a:close/>
              </a:path>
            </a:pathLst>
          </a:custGeom>
        </p:spPr>
      </p:pic>
      <p:sp>
        <p:nvSpPr>
          <p:cNvPr id="3" name="Text 0"/>
          <p:cNvSpPr/>
          <p:nvPr/>
        </p:nvSpPr>
        <p:spPr>
          <a:xfrm>
            <a:off x="661475" y="577751"/>
            <a:ext cx="6296860" cy="1661220"/>
          </a:xfrm>
          <a:prstGeom prst="rect">
            <a:avLst/>
          </a:prstGeom>
          <a:noFill/>
          <a:ln/>
        </p:spPr>
        <p:txBody>
          <a:bodyPr wrap="square" lIns="0" tIns="0" rIns="0" bIns="0" rtlCol="0" anchor="t">
            <a:normAutofit/>
          </a:bodyPr>
          <a:lstStyle/>
          <a:p>
            <a:pPr marL="0" indent="0" algn="l">
              <a:lnSpc>
                <a:spcPct val="104000"/>
              </a:lnSpc>
              <a:buNone/>
            </a:pPr>
            <a:r>
              <a:rPr lang="en-US" sz="3450" dirty="0">
                <a:solidFill>
                  <a:srgbClr val="EEAEF6"/>
                </a:solidFill>
                <a:latin typeface="Bricolage Grotesque ExtraBold" pitchFamily="34" charset="0"/>
                <a:ea typeface="Bricolage Grotesque ExtraBold" pitchFamily="34" charset="-122"/>
                <a:cs typeface="Bricolage Grotesque ExtraBold" pitchFamily="34" charset="-120"/>
              </a:rPr>
              <a:t>Design and Simulation of an Automatic Street Light Control System</a:t>
            </a:r>
            <a:endParaRPr lang="en-US" sz="3450" dirty="0"/>
          </a:p>
        </p:txBody>
      </p:sp>
      <p:sp>
        <p:nvSpPr>
          <p:cNvPr id="4" name="Text 1"/>
          <p:cNvSpPr/>
          <p:nvPr/>
        </p:nvSpPr>
        <p:spPr>
          <a:xfrm>
            <a:off x="661475" y="2305348"/>
            <a:ext cx="6296860" cy="332184"/>
          </a:xfrm>
          <a:prstGeom prst="rect">
            <a:avLst/>
          </a:prstGeom>
          <a:noFill/>
          <a:ln/>
        </p:spPr>
        <p:txBody>
          <a:bodyPr wrap="none" lIns="0" tIns="0" rIns="0" bIns="0" rtlCol="0" anchor="t"/>
          <a:lstStyle/>
          <a:p>
            <a:pPr marL="0" indent="0" algn="l">
              <a:lnSpc>
                <a:spcPct val="104000"/>
              </a:lnSpc>
              <a:buNone/>
            </a:pPr>
            <a:r>
              <a:rPr lang="en-US" sz="2050" b="1" dirty="0">
                <a:solidFill>
                  <a:srgbClr val="EEAEF6"/>
                </a:solidFill>
                <a:latin typeface="Bricolage Grotesque Bold" pitchFamily="34" charset="0"/>
                <a:ea typeface="Bricolage Grotesque Bold" pitchFamily="34" charset="-122"/>
                <a:cs typeface="Bricolage Grotesque Bold" pitchFamily="34" charset="-120"/>
              </a:rPr>
              <a:t>DDCA Project Presentation</a:t>
            </a:r>
            <a:endParaRPr lang="en-US" sz="2050" dirty="0"/>
          </a:p>
        </p:txBody>
      </p:sp>
      <p:sp>
        <p:nvSpPr>
          <p:cNvPr id="5" name="Text 2"/>
          <p:cNvSpPr/>
          <p:nvPr/>
        </p:nvSpPr>
        <p:spPr>
          <a:xfrm>
            <a:off x="661475" y="2886670"/>
            <a:ext cx="6906444" cy="274638"/>
          </a:xfrm>
          <a:prstGeom prst="rect">
            <a:avLst/>
          </a:prstGeom>
          <a:noFill/>
          <a:ln/>
        </p:spPr>
        <p:txBody>
          <a:bodyPr wrap="none" lIns="0" tIns="0" rIns="0" bIns="0" rtlCol="0" anchor="t"/>
          <a:lstStyle/>
          <a:p>
            <a:pPr marL="0" indent="0" algn="l">
              <a:lnSpc>
                <a:spcPct val="129000"/>
              </a:lnSpc>
              <a:buNone/>
            </a:pPr>
            <a:r>
              <a:rPr lang="en-US" sz="1350" b="1" dirty="0">
                <a:solidFill>
                  <a:srgbClr val="E5DCE6"/>
                </a:solidFill>
                <a:latin typeface="Montserrat Bold" pitchFamily="34" charset="0"/>
                <a:ea typeface="Montserrat Bold" pitchFamily="34" charset="-122"/>
                <a:cs typeface="Montserrat Bold" pitchFamily="34" charset="-120"/>
              </a:rPr>
              <a:t>Presented by:</a:t>
            </a:r>
            <a:endParaRPr lang="en-US" sz="1350" dirty="0"/>
          </a:p>
        </p:txBody>
      </p:sp>
      <p:sp>
        <p:nvSpPr>
          <p:cNvPr id="6" name="Text 3"/>
          <p:cNvSpPr/>
          <p:nvPr/>
        </p:nvSpPr>
        <p:spPr>
          <a:xfrm>
            <a:off x="661475" y="3348137"/>
            <a:ext cx="6296860" cy="1272977"/>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b="1" dirty="0" err="1">
                <a:solidFill>
                  <a:srgbClr val="E5DCE6"/>
                </a:solidFill>
                <a:latin typeface="Montserrat Bold" pitchFamily="34" charset="0"/>
                <a:ea typeface="Montserrat Bold" pitchFamily="34" charset="-122"/>
                <a:cs typeface="Montserrat Bold" pitchFamily="34" charset="-120"/>
              </a:rPr>
              <a:t>P.Naga</a:t>
            </a:r>
            <a:r>
              <a:rPr lang="en-US" sz="1350" b="1" dirty="0">
                <a:solidFill>
                  <a:srgbClr val="E5DCE6"/>
                </a:solidFill>
                <a:latin typeface="Montserrat Bold" pitchFamily="34" charset="0"/>
                <a:ea typeface="Montserrat Bold" pitchFamily="34" charset="-122"/>
                <a:cs typeface="Montserrat Bold" pitchFamily="34" charset="-120"/>
              </a:rPr>
              <a:t> Sai Venkat Praveen</a:t>
            </a:r>
            <a:r>
              <a:rPr lang="en-US" sz="1350" dirty="0">
                <a:solidFill>
                  <a:srgbClr val="E5DCE6"/>
                </a:solidFill>
                <a:latin typeface="Montserrat" pitchFamily="34" charset="0"/>
                <a:ea typeface="Montserrat" pitchFamily="34" charset="-122"/>
                <a:cs typeface="Montserrat" pitchFamily="34" charset="-120"/>
              </a:rPr>
              <a:t> — 2620040078</a:t>
            </a:r>
            <a:endParaRPr lang="en-US" sz="1350" dirty="0"/>
          </a:p>
          <a:p>
            <a:pPr marL="274320" indent="-274320" algn="l">
              <a:lnSpc>
                <a:spcPct val="129000"/>
              </a:lnSpc>
              <a:buSzPct val="100000"/>
              <a:buChar char="•"/>
            </a:pPr>
            <a:r>
              <a:rPr lang="en-US" sz="1350" b="1" dirty="0">
                <a:solidFill>
                  <a:srgbClr val="E5DCE6"/>
                </a:solidFill>
                <a:latin typeface="Montserrat Bold" pitchFamily="34" charset="0"/>
                <a:ea typeface="Montserrat Bold" pitchFamily="34" charset="-122"/>
                <a:cs typeface="Montserrat Bold" pitchFamily="34" charset="-120"/>
              </a:rPr>
              <a:t>N. Varun</a:t>
            </a:r>
            <a:r>
              <a:rPr lang="en-US" sz="1350" dirty="0">
                <a:solidFill>
                  <a:srgbClr val="E5DCE6"/>
                </a:solidFill>
                <a:latin typeface="Montserrat" pitchFamily="34" charset="0"/>
                <a:ea typeface="Montserrat" pitchFamily="34" charset="-122"/>
                <a:cs typeface="Montserrat" pitchFamily="34" charset="-120"/>
              </a:rPr>
              <a:t> — 2620040048</a:t>
            </a:r>
            <a:endParaRPr lang="en-US" sz="1350" dirty="0"/>
          </a:p>
          <a:p>
            <a:pPr marL="274320" indent="-274320" algn="l">
              <a:lnSpc>
                <a:spcPct val="129000"/>
              </a:lnSpc>
              <a:buSzPct val="100000"/>
              <a:buChar char="•"/>
            </a:pPr>
            <a:r>
              <a:rPr lang="en-US" sz="1350" b="1" dirty="0" err="1">
                <a:solidFill>
                  <a:srgbClr val="E5DCE6"/>
                </a:solidFill>
                <a:latin typeface="Montserrat Bold" pitchFamily="34" charset="0"/>
                <a:ea typeface="Montserrat" pitchFamily="34" charset="-122"/>
                <a:cs typeface="Montserrat" pitchFamily="34" charset="-120"/>
              </a:rPr>
              <a:t>G.Ritesh</a:t>
            </a:r>
            <a:r>
              <a:rPr lang="en-US" sz="1350" dirty="0">
                <a:solidFill>
                  <a:srgbClr val="E5DCE6"/>
                </a:solidFill>
                <a:latin typeface="Montserrat" pitchFamily="34" charset="0"/>
                <a:ea typeface="Montserrat" pitchFamily="34" charset="-122"/>
                <a:cs typeface="Montserrat" pitchFamily="34" charset="-120"/>
              </a:rPr>
              <a:t>— 2620040016</a:t>
            </a:r>
            <a:endParaRPr lang="en-US" sz="1350" dirty="0"/>
          </a:p>
          <a:p>
            <a:pPr marL="274320" indent="-274320" algn="l">
              <a:lnSpc>
                <a:spcPct val="129000"/>
              </a:lnSpc>
              <a:buSzPct val="100000"/>
              <a:buChar char="•"/>
            </a:pPr>
            <a:r>
              <a:rPr lang="en-US" sz="1350" b="1" dirty="0">
                <a:solidFill>
                  <a:srgbClr val="E5DCE6"/>
                </a:solidFill>
                <a:latin typeface="Montserrat Bold" pitchFamily="34" charset="0"/>
                <a:ea typeface="Montserrat Bold" pitchFamily="34" charset="-122"/>
                <a:cs typeface="Montserrat Bold" pitchFamily="34" charset="-120"/>
              </a:rPr>
              <a:t>P.Sujith Kumar</a:t>
            </a:r>
            <a:r>
              <a:rPr lang="en-US" sz="1350" dirty="0">
                <a:solidFill>
                  <a:srgbClr val="E5DCE6"/>
                </a:solidFill>
                <a:latin typeface="Montserrat" pitchFamily="34" charset="0"/>
                <a:ea typeface="Montserrat" pitchFamily="34" charset="-122"/>
                <a:cs typeface="Montserrat" pitchFamily="34" charset="-120"/>
              </a:rPr>
              <a:t> — 2620040027</a:t>
            </a:r>
            <a:endParaRPr lang="en-US" sz="1350" dirty="0"/>
          </a:p>
        </p:txBody>
      </p:sp>
      <p:sp>
        <p:nvSpPr>
          <p:cNvPr id="7" name="Text 4"/>
          <p:cNvSpPr/>
          <p:nvPr/>
        </p:nvSpPr>
        <p:spPr>
          <a:xfrm>
            <a:off x="661475" y="4807942"/>
            <a:ext cx="6296860" cy="1472208"/>
          </a:xfrm>
          <a:prstGeom prst="rect">
            <a:avLst/>
          </a:prstGeom>
          <a:noFill/>
          <a:ln/>
        </p:spPr>
        <p:txBody>
          <a:bodyPr wrap="square" lIns="0" tIns="0" rIns="0" bIns="0" rtlCol="0" anchor="t"/>
          <a:lstStyle/>
          <a:p>
            <a:pPr marL="0" indent="0" algn="l">
              <a:lnSpc>
                <a:spcPct val="129000"/>
              </a:lnSpc>
              <a:spcAft>
                <a:spcPts val="1450"/>
              </a:spcAft>
              <a:buNone/>
            </a:pPr>
            <a:r>
              <a:rPr lang="en-US" sz="1350" b="1" dirty="0">
                <a:solidFill>
                  <a:srgbClr val="E5DCE6"/>
                </a:solidFill>
                <a:latin typeface="Montserrat Bold" pitchFamily="34" charset="0"/>
                <a:ea typeface="Montserrat Bold" pitchFamily="34" charset="-122"/>
                <a:cs typeface="Montserrat Bold" pitchFamily="34" charset="-120"/>
              </a:rPr>
              <a:t>Department of Digital Design and Computer Architecture (DDCA)</a:t>
            </a:r>
            <a:endParaRPr lang="en-US" sz="1350" dirty="0"/>
          </a:p>
          <a:p>
            <a:pPr marL="0" indent="0" algn="l">
              <a:lnSpc>
                <a:spcPct val="129000"/>
              </a:lnSpc>
              <a:buNone/>
            </a:pPr>
            <a:r>
              <a:rPr lang="en-US" sz="1350" b="1" dirty="0">
                <a:solidFill>
                  <a:srgbClr val="E5DCE6"/>
                </a:solidFill>
                <a:latin typeface="Montserrat Bold" pitchFamily="34" charset="0"/>
                <a:ea typeface="Montserrat Bold" pitchFamily="34" charset="-122"/>
                <a:cs typeface="Montserrat Bold" pitchFamily="34" charset="-120"/>
              </a:rPr>
              <a:t>Koneru Lakshmaiah Education Foundation (KLEF)</a:t>
            </a:r>
            <a:endParaRPr lang="en-US" sz="1350" dirty="0"/>
          </a:p>
          <a:p>
            <a:pPr marL="0" indent="0" algn="l">
              <a:lnSpc>
                <a:spcPct val="129000"/>
              </a:lnSpc>
              <a:spcAft>
                <a:spcPts val="1450"/>
              </a:spcAft>
              <a:buNone/>
            </a:pPr>
            <a:r>
              <a:rPr lang="en-US" sz="1350" b="1" dirty="0">
                <a:solidFill>
                  <a:srgbClr val="E5DCE6"/>
                </a:solidFill>
                <a:latin typeface="Montserrat Bold" pitchFamily="34" charset="0"/>
                <a:ea typeface="Montserrat Bold" pitchFamily="34" charset="-122"/>
                <a:cs typeface="Montserrat Bold" pitchFamily="34" charset="-120"/>
              </a:rPr>
              <a:t>Hyderabad Campus, Bachupally</a:t>
            </a:r>
            <a:endParaRPr lang="en-US" sz="1350" dirty="0"/>
          </a:p>
          <a:p>
            <a:pPr marL="0" indent="0" algn="l">
              <a:lnSpc>
                <a:spcPct val="129000"/>
              </a:lnSpc>
              <a:buNone/>
            </a:pPr>
            <a:r>
              <a:rPr lang="en-US" sz="1350" b="1" dirty="0">
                <a:solidFill>
                  <a:srgbClr val="E5DCE6"/>
                </a:solidFill>
                <a:latin typeface="Montserrat Bold" pitchFamily="34" charset="0"/>
                <a:ea typeface="Montserrat Bold" pitchFamily="34" charset="-122"/>
                <a:cs typeface="Montserrat Bold" pitchFamily="34" charset="-120"/>
              </a:rPr>
              <a:t>Academic Year: 2026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8790" y="0"/>
                </a:moveTo>
                <a:lnTo>
                  <a:pt x="100000" y="0"/>
                </a:lnTo>
                <a:lnTo>
                  <a:pt x="100000" y="100000"/>
                </a:lnTo>
                <a:lnTo>
                  <a:pt x="13180" y="99900"/>
                </a:lnTo>
                <a:lnTo>
                  <a:pt x="8110" y="91990"/>
                </a:lnTo>
                <a:lnTo>
                  <a:pt x="4200" y="84670"/>
                </a:lnTo>
                <a:lnTo>
                  <a:pt x="2640" y="81150"/>
                </a:lnTo>
                <a:lnTo>
                  <a:pt x="1270" y="77440"/>
                </a:lnTo>
                <a:lnTo>
                  <a:pt x="490" y="74610"/>
                </a:lnTo>
                <a:lnTo>
                  <a:pt x="0" y="71480"/>
                </a:lnTo>
                <a:lnTo>
                  <a:pt x="200" y="67290"/>
                </a:lnTo>
                <a:lnTo>
                  <a:pt x="1270" y="63280"/>
                </a:lnTo>
                <a:lnTo>
                  <a:pt x="2830" y="59860"/>
                </a:lnTo>
                <a:lnTo>
                  <a:pt x="5080" y="56050"/>
                </a:lnTo>
                <a:lnTo>
                  <a:pt x="6840" y="52540"/>
                </a:lnTo>
                <a:lnTo>
                  <a:pt x="7910" y="49610"/>
                </a:lnTo>
                <a:lnTo>
                  <a:pt x="8690" y="45700"/>
                </a:lnTo>
                <a:lnTo>
                  <a:pt x="8790" y="40140"/>
                </a:lnTo>
                <a:lnTo>
                  <a:pt x="8590" y="36520"/>
                </a:lnTo>
                <a:lnTo>
                  <a:pt x="8110" y="31930"/>
                </a:lnTo>
                <a:lnTo>
                  <a:pt x="6540" y="21970"/>
                </a:lnTo>
                <a:lnTo>
                  <a:pt x="6150" y="14750"/>
                </a:lnTo>
                <a:lnTo>
                  <a:pt x="6450" y="10350"/>
                </a:lnTo>
                <a:lnTo>
                  <a:pt x="6930" y="7030"/>
                </a:lnTo>
                <a:lnTo>
                  <a:pt x="7910" y="2640"/>
                </a:lnTo>
                <a:close/>
              </a:path>
            </a:pathLst>
          </a:custGeom>
        </p:spPr>
      </p:pic>
      <p:sp>
        <p:nvSpPr>
          <p:cNvPr id="3" name="Text 0"/>
          <p:cNvSpPr/>
          <p:nvPr/>
        </p:nvSpPr>
        <p:spPr>
          <a:xfrm>
            <a:off x="661475" y="934045"/>
            <a:ext cx="6296860" cy="177194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EEAEF6"/>
                </a:solidFill>
                <a:latin typeface="Bricolage Grotesque ExtraBold" pitchFamily="34" charset="0"/>
                <a:ea typeface="Bricolage Grotesque ExtraBold" pitchFamily="34" charset="-122"/>
                <a:cs typeface="Bricolage Grotesque ExtraBold" pitchFamily="34" charset="-120"/>
              </a:rPr>
              <a:t>Introduction: Smart Street Lighting for a Brighter Future</a:t>
            </a:r>
            <a:endParaRPr lang="en-US" sz="3700" dirty="0"/>
          </a:p>
        </p:txBody>
      </p:sp>
      <p:sp>
        <p:nvSpPr>
          <p:cNvPr id="4" name="Text 1"/>
          <p:cNvSpPr/>
          <p:nvPr/>
        </p:nvSpPr>
        <p:spPr>
          <a:xfrm>
            <a:off x="661475" y="2989461"/>
            <a:ext cx="6296860" cy="2934395"/>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E5DCE6"/>
                </a:solidFill>
                <a:latin typeface="Montserrat" pitchFamily="34" charset="0"/>
                <a:ea typeface="Montserrat" pitchFamily="34" charset="-122"/>
                <a:cs typeface="Montserrat" pitchFamily="34" charset="-120"/>
              </a:rPr>
              <a:t>Our project introduces an advanced Automatic Street Light Control System, designed to revolutionize urban illumination. By integrating sensor technology and intelligent algorithms, this system aims to optimize energy consumption, enhance public safety, and reduce operational costs.</a:t>
            </a:r>
            <a:endParaRPr lang="en-US" sz="1450" dirty="0"/>
          </a:p>
          <a:p>
            <a:pPr marL="0" indent="0" algn="l">
              <a:lnSpc>
                <a:spcPct val="133000"/>
              </a:lnSpc>
              <a:buNone/>
            </a:pPr>
            <a:r>
              <a:rPr lang="en-US" sz="1450" dirty="0">
                <a:solidFill>
                  <a:srgbClr val="E5DCE6"/>
                </a:solidFill>
                <a:latin typeface="Montserrat" pitchFamily="34" charset="0"/>
                <a:ea typeface="Montserrat" pitchFamily="34" charset="-122"/>
                <a:cs typeface="Montserrat" pitchFamily="34" charset="-120"/>
              </a:rPr>
              <a:t>We delve into the detailed design and simulation of a solution that dynamically adjusts lighting levels based on real-time environmental conditions, paving the way for more sustainable and efficient city infrastructure.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8790" y="0"/>
                </a:moveTo>
                <a:lnTo>
                  <a:pt x="100000" y="0"/>
                </a:lnTo>
                <a:lnTo>
                  <a:pt x="100000" y="100000"/>
                </a:lnTo>
                <a:lnTo>
                  <a:pt x="13180" y="99900"/>
                </a:lnTo>
                <a:lnTo>
                  <a:pt x="8110" y="91990"/>
                </a:lnTo>
                <a:lnTo>
                  <a:pt x="4200" y="84670"/>
                </a:lnTo>
                <a:lnTo>
                  <a:pt x="2640" y="81150"/>
                </a:lnTo>
                <a:lnTo>
                  <a:pt x="1270" y="77440"/>
                </a:lnTo>
                <a:lnTo>
                  <a:pt x="490" y="74610"/>
                </a:lnTo>
                <a:lnTo>
                  <a:pt x="0" y="71480"/>
                </a:lnTo>
                <a:lnTo>
                  <a:pt x="200" y="67290"/>
                </a:lnTo>
                <a:lnTo>
                  <a:pt x="1270" y="63280"/>
                </a:lnTo>
                <a:lnTo>
                  <a:pt x="2830" y="59860"/>
                </a:lnTo>
                <a:lnTo>
                  <a:pt x="5080" y="56050"/>
                </a:lnTo>
                <a:lnTo>
                  <a:pt x="6840" y="52540"/>
                </a:lnTo>
                <a:lnTo>
                  <a:pt x="7910" y="49610"/>
                </a:lnTo>
                <a:lnTo>
                  <a:pt x="8690" y="45700"/>
                </a:lnTo>
                <a:lnTo>
                  <a:pt x="8790" y="40140"/>
                </a:lnTo>
                <a:lnTo>
                  <a:pt x="8590" y="36520"/>
                </a:lnTo>
                <a:lnTo>
                  <a:pt x="8110" y="31930"/>
                </a:lnTo>
                <a:lnTo>
                  <a:pt x="6540" y="21970"/>
                </a:lnTo>
                <a:lnTo>
                  <a:pt x="6150" y="14750"/>
                </a:lnTo>
                <a:lnTo>
                  <a:pt x="6450" y="10350"/>
                </a:lnTo>
                <a:lnTo>
                  <a:pt x="6930" y="7030"/>
                </a:lnTo>
                <a:lnTo>
                  <a:pt x="7910" y="2640"/>
                </a:lnTo>
                <a:close/>
              </a:path>
            </a:pathLst>
          </a:custGeom>
        </p:spPr>
      </p:pic>
      <p:sp>
        <p:nvSpPr>
          <p:cNvPr id="3" name="Text 0"/>
          <p:cNvSpPr/>
          <p:nvPr/>
        </p:nvSpPr>
        <p:spPr>
          <a:xfrm>
            <a:off x="661475" y="527844"/>
            <a:ext cx="6296860" cy="1126133"/>
          </a:xfrm>
          <a:prstGeom prst="rect">
            <a:avLst/>
          </a:prstGeom>
          <a:noFill/>
          <a:ln/>
        </p:spPr>
        <p:txBody>
          <a:bodyPr wrap="square" lIns="0" tIns="0" rIns="0" bIns="0" rtlCol="0" anchor="t">
            <a:normAutofit/>
          </a:bodyPr>
          <a:lstStyle/>
          <a:p>
            <a:pPr marL="0" indent="0" algn="l">
              <a:lnSpc>
                <a:spcPct val="104000"/>
              </a:lnSpc>
              <a:buNone/>
            </a:pPr>
            <a:r>
              <a:rPr lang="en-US" sz="3500" dirty="0">
                <a:solidFill>
                  <a:srgbClr val="EEAEF6"/>
                </a:solidFill>
                <a:latin typeface="Bricolage Grotesque ExtraBold" pitchFamily="34" charset="0"/>
                <a:ea typeface="Bricolage Grotesque ExtraBold" pitchFamily="34" charset="-122"/>
                <a:cs typeface="Bricolage Grotesque ExtraBold" pitchFamily="34" charset="-120"/>
              </a:rPr>
              <a:t>The Problem: Energy Waste in Street Lighting</a:t>
            </a:r>
            <a:endParaRPr lang="en-US" sz="35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1911548"/>
            <a:ext cx="6296860" cy="1358404"/>
          </a:xfrm>
          <a:prstGeom prst="rect">
            <a:avLst/>
          </a:prstGeom>
        </p:spPr>
      </p:pic>
      <p:sp>
        <p:nvSpPr>
          <p:cNvPr id="5" name="Text 1"/>
          <p:cNvSpPr/>
          <p:nvPr/>
        </p:nvSpPr>
        <p:spPr>
          <a:xfrm>
            <a:off x="968549" y="2117030"/>
            <a:ext cx="5784308" cy="281484"/>
          </a:xfrm>
          <a:prstGeom prst="rect">
            <a:avLst/>
          </a:prstGeom>
          <a:noFill/>
          <a:ln/>
        </p:spPr>
        <p:txBody>
          <a:bodyPr wrap="none" lIns="0" tIns="0" rIns="0" bIns="0" rtlCol="0" anchor="t"/>
          <a:lstStyle/>
          <a:p>
            <a:pPr marL="0" indent="0" algn="l">
              <a:lnSpc>
                <a:spcPct val="104000"/>
              </a:lnSpc>
              <a:buNone/>
            </a:pPr>
            <a:r>
              <a:rPr lang="en-US" sz="1750" dirty="0">
                <a:solidFill>
                  <a:srgbClr val="E5DCE6"/>
                </a:solidFill>
                <a:latin typeface="Bricolage Grotesque ExtraBold" pitchFamily="34" charset="0"/>
                <a:ea typeface="Bricolage Grotesque ExtraBold" pitchFamily="34" charset="-122"/>
                <a:cs typeface="Bricolage Grotesque ExtraBold" pitchFamily="34" charset="-120"/>
              </a:rPr>
              <a:t>Always-On Lighting</a:t>
            </a:r>
            <a:endParaRPr lang="en-US" sz="1750" dirty="0"/>
          </a:p>
        </p:txBody>
      </p:sp>
      <p:sp>
        <p:nvSpPr>
          <p:cNvPr id="6" name="Text 2"/>
          <p:cNvSpPr/>
          <p:nvPr/>
        </p:nvSpPr>
        <p:spPr>
          <a:xfrm>
            <a:off x="968549" y="2501503"/>
            <a:ext cx="5784308"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E5DCE6"/>
                </a:solidFill>
                <a:latin typeface="Montserrat" pitchFamily="34" charset="0"/>
                <a:ea typeface="Montserrat" pitchFamily="34" charset="-122"/>
                <a:cs typeface="Montserrat" pitchFamily="34" charset="-120"/>
              </a:rPr>
              <a:t>Manual control and fixed timers keep lights on at full brightness even on empty roads.</a:t>
            </a:r>
            <a:endParaRPr lang="en-US" sz="14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3441601"/>
            <a:ext cx="6296860" cy="1358404"/>
          </a:xfrm>
          <a:prstGeom prst="rect">
            <a:avLst/>
          </a:prstGeom>
        </p:spPr>
      </p:pic>
      <p:sp>
        <p:nvSpPr>
          <p:cNvPr id="8" name="Text 3"/>
          <p:cNvSpPr/>
          <p:nvPr/>
        </p:nvSpPr>
        <p:spPr>
          <a:xfrm>
            <a:off x="968549" y="3647083"/>
            <a:ext cx="5784308" cy="281484"/>
          </a:xfrm>
          <a:prstGeom prst="rect">
            <a:avLst/>
          </a:prstGeom>
          <a:noFill/>
          <a:ln/>
        </p:spPr>
        <p:txBody>
          <a:bodyPr wrap="none" lIns="0" tIns="0" rIns="0" bIns="0" rtlCol="0" anchor="t"/>
          <a:lstStyle/>
          <a:p>
            <a:pPr marL="0" indent="0" algn="l">
              <a:lnSpc>
                <a:spcPct val="104000"/>
              </a:lnSpc>
              <a:buNone/>
            </a:pPr>
            <a:r>
              <a:rPr lang="en-US" sz="1750" dirty="0">
                <a:solidFill>
                  <a:srgbClr val="E5DCE6"/>
                </a:solidFill>
                <a:latin typeface="Bricolage Grotesque ExtraBold" pitchFamily="34" charset="0"/>
                <a:ea typeface="Bricolage Grotesque ExtraBold" pitchFamily="34" charset="-122"/>
                <a:cs typeface="Bricolage Grotesque ExtraBold" pitchFamily="34" charset="-120"/>
              </a:rPr>
              <a:t>High Energy Demand</a:t>
            </a:r>
            <a:endParaRPr lang="en-US" sz="1750" dirty="0"/>
          </a:p>
        </p:txBody>
      </p:sp>
      <p:sp>
        <p:nvSpPr>
          <p:cNvPr id="9" name="Text 4"/>
          <p:cNvSpPr/>
          <p:nvPr/>
        </p:nvSpPr>
        <p:spPr>
          <a:xfrm>
            <a:off x="968549" y="4031555"/>
            <a:ext cx="5784308"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E5DCE6"/>
                </a:solidFill>
                <a:latin typeface="Montserrat" pitchFamily="34" charset="0"/>
                <a:ea typeface="Montserrat" pitchFamily="34" charset="-122"/>
                <a:cs typeface="Montserrat" pitchFamily="34" charset="-120"/>
              </a:rPr>
              <a:t>Conventional street lighting consumes a major share of a city's total electrical energy budget.</a:t>
            </a:r>
            <a:endParaRPr lang="en-US" sz="14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971653"/>
            <a:ext cx="6296860" cy="1358404"/>
          </a:xfrm>
          <a:prstGeom prst="rect">
            <a:avLst/>
          </a:prstGeom>
        </p:spPr>
      </p:pic>
      <p:sp>
        <p:nvSpPr>
          <p:cNvPr id="11" name="Text 5"/>
          <p:cNvSpPr/>
          <p:nvPr/>
        </p:nvSpPr>
        <p:spPr>
          <a:xfrm>
            <a:off x="968549" y="5177135"/>
            <a:ext cx="5784308" cy="281484"/>
          </a:xfrm>
          <a:prstGeom prst="rect">
            <a:avLst/>
          </a:prstGeom>
          <a:noFill/>
          <a:ln/>
        </p:spPr>
        <p:txBody>
          <a:bodyPr wrap="none" lIns="0" tIns="0" rIns="0" bIns="0" rtlCol="0" anchor="t"/>
          <a:lstStyle/>
          <a:p>
            <a:pPr marL="0" indent="0" algn="l">
              <a:lnSpc>
                <a:spcPct val="104000"/>
              </a:lnSpc>
              <a:buNone/>
            </a:pPr>
            <a:r>
              <a:rPr lang="en-US" sz="1750" dirty="0">
                <a:solidFill>
                  <a:srgbClr val="E5DCE6"/>
                </a:solidFill>
                <a:latin typeface="Bricolage Grotesque ExtraBold" pitchFamily="34" charset="0"/>
                <a:ea typeface="Bricolage Grotesque ExtraBold" pitchFamily="34" charset="-122"/>
                <a:cs typeface="Bricolage Grotesque ExtraBold" pitchFamily="34" charset="-120"/>
              </a:rPr>
              <a:t>Human Error &amp; Seasonal Drift</a:t>
            </a:r>
            <a:endParaRPr lang="en-US" sz="1750" dirty="0"/>
          </a:p>
        </p:txBody>
      </p:sp>
      <p:sp>
        <p:nvSpPr>
          <p:cNvPr id="12" name="Text 6"/>
          <p:cNvSpPr/>
          <p:nvPr/>
        </p:nvSpPr>
        <p:spPr>
          <a:xfrm>
            <a:off x="968549" y="5561608"/>
            <a:ext cx="5784308" cy="562967"/>
          </a:xfrm>
          <a:prstGeom prst="rect">
            <a:avLst/>
          </a:prstGeom>
          <a:noFill/>
          <a:ln/>
        </p:spPr>
        <p:txBody>
          <a:bodyPr wrap="square" lIns="0" tIns="0" rIns="0" bIns="0" rtlCol="0" anchor="t">
            <a:normAutofit/>
          </a:bodyPr>
          <a:lstStyle/>
          <a:p>
            <a:pPr marL="0" indent="0" algn="l">
              <a:lnSpc>
                <a:spcPct val="130000"/>
              </a:lnSpc>
              <a:buNone/>
            </a:pPr>
            <a:r>
              <a:rPr lang="en-US" sz="1400" dirty="0">
                <a:solidFill>
                  <a:srgbClr val="E5DCE6"/>
                </a:solidFill>
                <a:latin typeface="Montserrat" pitchFamily="34" charset="0"/>
                <a:ea typeface="Montserrat" pitchFamily="34" charset="-122"/>
                <a:cs typeface="Montserrat" pitchFamily="34" charset="-120"/>
              </a:rPr>
              <a:t>Manual operation is susceptible to human error and fails to adapt to seasonal timing variations.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545306"/>
            <a:ext cx="10868745" cy="516731"/>
          </a:xfrm>
          <a:prstGeom prst="rect">
            <a:avLst/>
          </a:prstGeom>
          <a:noFill/>
          <a:ln/>
        </p:spPr>
        <p:txBody>
          <a:bodyPr wrap="none" lIns="0" tIns="0" rIns="0" bIns="0" rtlCol="0" anchor="t"/>
          <a:lstStyle/>
          <a:p>
            <a:pPr marL="0" indent="0" algn="l">
              <a:lnSpc>
                <a:spcPct val="104000"/>
              </a:lnSpc>
              <a:buNone/>
            </a:pPr>
            <a:r>
              <a:rPr lang="en-US" sz="3250" dirty="0">
                <a:solidFill>
                  <a:srgbClr val="EEAEF6"/>
                </a:solidFill>
                <a:latin typeface="Bricolage Grotesque ExtraBold" pitchFamily="34" charset="0"/>
                <a:ea typeface="Bricolage Grotesque ExtraBold" pitchFamily="34" charset="-122"/>
                <a:cs typeface="Bricolage Grotesque ExtraBold" pitchFamily="34" charset="-120"/>
              </a:rPr>
              <a:t>Project Objectives</a:t>
            </a:r>
            <a:endParaRPr lang="en-US" sz="3250" dirty="0"/>
          </a:p>
        </p:txBody>
      </p:sp>
      <p:pic>
        <p:nvPicPr>
          <p:cNvPr id="3" name="Image 0" descr="preencoded.png"/>
          <p:cNvPicPr>
            <a:picLocks noChangeAspect="1"/>
          </p:cNvPicPr>
          <p:nvPr/>
        </p:nvPicPr>
        <p:blipFill>
          <a:blip r:embed="rId3"/>
          <a:stretch>
            <a:fillRect/>
          </a:stretch>
        </p:blipFill>
        <p:spPr>
          <a:xfrm>
            <a:off x="661475" y="1834158"/>
            <a:ext cx="6923410" cy="3923308"/>
          </a:xfrm>
          <a:prstGeom prst="rect">
            <a:avLst/>
          </a:prstGeom>
        </p:spPr>
      </p:pic>
      <p:sp>
        <p:nvSpPr>
          <p:cNvPr id="4" name="Shape 1"/>
          <p:cNvSpPr/>
          <p:nvPr/>
        </p:nvSpPr>
        <p:spPr>
          <a:xfrm>
            <a:off x="7994648" y="1441748"/>
            <a:ext cx="372061" cy="372070"/>
          </a:xfrm>
          <a:prstGeom prst="roundRect">
            <a:avLst>
              <a:gd name="adj" fmla="val 18670"/>
            </a:avLst>
          </a:prstGeom>
          <a:solidFill>
            <a:srgbClr val="282D5E"/>
          </a:solidFill>
          <a:ln/>
        </p:spPr>
      </p:sp>
      <p:sp>
        <p:nvSpPr>
          <p:cNvPr id="5" name="Text 2"/>
          <p:cNvSpPr/>
          <p:nvPr/>
        </p:nvSpPr>
        <p:spPr>
          <a:xfrm>
            <a:off x="8056659" y="1472754"/>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E5DCE6"/>
                </a:solidFill>
                <a:latin typeface="Bricolage Grotesque ExtraBold" pitchFamily="34" charset="0"/>
                <a:ea typeface="Bricolage Grotesque ExtraBold" pitchFamily="34" charset="-122"/>
                <a:cs typeface="Bricolage Grotesque ExtraBold" pitchFamily="34" charset="-120"/>
              </a:rPr>
              <a:t>1</a:t>
            </a:r>
            <a:endParaRPr lang="en-US" sz="1950" dirty="0"/>
          </a:p>
        </p:txBody>
      </p:sp>
      <p:sp>
        <p:nvSpPr>
          <p:cNvPr id="6" name="Text 3"/>
          <p:cNvSpPr/>
          <p:nvPr/>
        </p:nvSpPr>
        <p:spPr>
          <a:xfrm>
            <a:off x="8511367" y="1498600"/>
            <a:ext cx="3025104" cy="258465"/>
          </a:xfrm>
          <a:prstGeom prst="rect">
            <a:avLst/>
          </a:prstGeom>
          <a:noFill/>
          <a:ln/>
        </p:spPr>
        <p:txBody>
          <a:bodyPr wrap="none" lIns="0" tIns="0" rIns="0" bIns="0" rtlCol="0" anchor="t"/>
          <a:lstStyle/>
          <a:p>
            <a:pPr marL="0" indent="0" algn="l">
              <a:lnSpc>
                <a:spcPct val="104000"/>
              </a:lnSpc>
              <a:buNone/>
            </a:pPr>
            <a:r>
              <a:rPr lang="en-US" sz="1600" dirty="0">
                <a:solidFill>
                  <a:srgbClr val="E5DCE6"/>
                </a:solidFill>
                <a:latin typeface="Bricolage Grotesque ExtraBold" pitchFamily="34" charset="0"/>
                <a:ea typeface="Bricolage Grotesque ExtraBold" pitchFamily="34" charset="-122"/>
                <a:cs typeface="Bricolage Grotesque ExtraBold" pitchFamily="34" charset="-120"/>
              </a:rPr>
              <a:t>Automate ON/OFF Control</a:t>
            </a:r>
            <a:endParaRPr lang="en-US" sz="1600" dirty="0"/>
          </a:p>
        </p:txBody>
      </p:sp>
      <p:sp>
        <p:nvSpPr>
          <p:cNvPr id="7" name="Text 4"/>
          <p:cNvSpPr/>
          <p:nvPr/>
        </p:nvSpPr>
        <p:spPr>
          <a:xfrm>
            <a:off x="8511367" y="1901726"/>
            <a:ext cx="3025104" cy="74414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E5DCE6"/>
                </a:solidFill>
                <a:latin typeface="Montserrat" pitchFamily="34" charset="0"/>
                <a:ea typeface="Montserrat" pitchFamily="34" charset="-122"/>
                <a:cs typeface="Montserrat" pitchFamily="34" charset="-120"/>
              </a:rPr>
              <a:t>Use ambient light sensing (LDR) to switch street lights automatically based on day/night conditions.</a:t>
            </a:r>
            <a:endParaRPr lang="en-US" sz="1300" dirty="0"/>
          </a:p>
        </p:txBody>
      </p:sp>
      <p:sp>
        <p:nvSpPr>
          <p:cNvPr id="8" name="Shape 5"/>
          <p:cNvSpPr/>
          <p:nvPr/>
        </p:nvSpPr>
        <p:spPr>
          <a:xfrm>
            <a:off x="7994648" y="2935288"/>
            <a:ext cx="372061" cy="372070"/>
          </a:xfrm>
          <a:prstGeom prst="roundRect">
            <a:avLst>
              <a:gd name="adj" fmla="val 18670"/>
            </a:avLst>
          </a:prstGeom>
          <a:solidFill>
            <a:srgbClr val="282D5E"/>
          </a:solidFill>
          <a:ln/>
        </p:spPr>
      </p:sp>
      <p:sp>
        <p:nvSpPr>
          <p:cNvPr id="9" name="Text 6"/>
          <p:cNvSpPr/>
          <p:nvPr/>
        </p:nvSpPr>
        <p:spPr>
          <a:xfrm>
            <a:off x="8056659" y="2966293"/>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E5DCE6"/>
                </a:solidFill>
                <a:latin typeface="Bricolage Grotesque ExtraBold" pitchFamily="34" charset="0"/>
                <a:ea typeface="Bricolage Grotesque ExtraBold" pitchFamily="34" charset="-122"/>
                <a:cs typeface="Bricolage Grotesque ExtraBold" pitchFamily="34" charset="-120"/>
              </a:rPr>
              <a:t>2</a:t>
            </a:r>
            <a:endParaRPr lang="en-US" sz="1950" dirty="0"/>
          </a:p>
        </p:txBody>
      </p:sp>
      <p:sp>
        <p:nvSpPr>
          <p:cNvPr id="10" name="Text 7"/>
          <p:cNvSpPr/>
          <p:nvPr/>
        </p:nvSpPr>
        <p:spPr>
          <a:xfrm>
            <a:off x="8511367" y="2992140"/>
            <a:ext cx="302510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E5DCE6"/>
                </a:solidFill>
                <a:latin typeface="Bricolage Grotesque ExtraBold" pitchFamily="34" charset="0"/>
                <a:ea typeface="Bricolage Grotesque ExtraBold" pitchFamily="34" charset="-122"/>
                <a:cs typeface="Bricolage Grotesque ExtraBold" pitchFamily="34" charset="-120"/>
              </a:rPr>
              <a:t>Dynamic Brightness Adjustment</a:t>
            </a:r>
            <a:endParaRPr lang="en-US" sz="1600" dirty="0"/>
          </a:p>
        </p:txBody>
      </p:sp>
      <p:sp>
        <p:nvSpPr>
          <p:cNvPr id="11" name="Text 8"/>
          <p:cNvSpPr/>
          <p:nvPr/>
        </p:nvSpPr>
        <p:spPr>
          <a:xfrm>
            <a:off x="8511367" y="3653730"/>
            <a:ext cx="3025104" cy="74414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E5DCE6"/>
                </a:solidFill>
                <a:latin typeface="Montserrat" pitchFamily="34" charset="0"/>
                <a:ea typeface="Montserrat" pitchFamily="34" charset="-122"/>
                <a:cs typeface="Montserrat" pitchFamily="34" charset="-120"/>
              </a:rPr>
              <a:t>Detect motion via IR/PIR sensors and adjust lamp brightness in real time for safety and efficiency.</a:t>
            </a:r>
            <a:endParaRPr lang="en-US" sz="1300" dirty="0"/>
          </a:p>
        </p:txBody>
      </p:sp>
      <p:sp>
        <p:nvSpPr>
          <p:cNvPr id="12" name="Shape 9"/>
          <p:cNvSpPr/>
          <p:nvPr/>
        </p:nvSpPr>
        <p:spPr>
          <a:xfrm>
            <a:off x="7994648" y="4687292"/>
            <a:ext cx="372061" cy="372070"/>
          </a:xfrm>
          <a:prstGeom prst="roundRect">
            <a:avLst>
              <a:gd name="adj" fmla="val 18670"/>
            </a:avLst>
          </a:prstGeom>
          <a:solidFill>
            <a:srgbClr val="282D5E"/>
          </a:solidFill>
          <a:ln/>
        </p:spPr>
      </p:sp>
      <p:sp>
        <p:nvSpPr>
          <p:cNvPr id="13" name="Text 10"/>
          <p:cNvSpPr/>
          <p:nvPr/>
        </p:nvSpPr>
        <p:spPr>
          <a:xfrm>
            <a:off x="8056659" y="4718298"/>
            <a:ext cx="248041" cy="310059"/>
          </a:xfrm>
          <a:prstGeom prst="rect">
            <a:avLst/>
          </a:prstGeom>
          <a:noFill/>
          <a:ln/>
        </p:spPr>
        <p:txBody>
          <a:bodyPr wrap="none" lIns="0" tIns="0" rIns="0" bIns="0" rtlCol="0" anchor="ctr"/>
          <a:lstStyle/>
          <a:p>
            <a:pPr marL="0" indent="0" algn="ctr">
              <a:lnSpc>
                <a:spcPct val="100000"/>
              </a:lnSpc>
              <a:buNone/>
            </a:pPr>
            <a:r>
              <a:rPr lang="en-US" sz="1950" dirty="0">
                <a:solidFill>
                  <a:srgbClr val="E5DCE6"/>
                </a:solidFill>
                <a:latin typeface="Bricolage Grotesque ExtraBold" pitchFamily="34" charset="0"/>
                <a:ea typeface="Bricolage Grotesque ExtraBold" pitchFamily="34" charset="-122"/>
                <a:cs typeface="Bricolage Grotesque ExtraBold" pitchFamily="34" charset="-120"/>
              </a:rPr>
              <a:t>3</a:t>
            </a:r>
            <a:endParaRPr lang="en-US" sz="1950" dirty="0"/>
          </a:p>
        </p:txBody>
      </p:sp>
      <p:sp>
        <p:nvSpPr>
          <p:cNvPr id="14" name="Text 11"/>
          <p:cNvSpPr/>
          <p:nvPr/>
        </p:nvSpPr>
        <p:spPr>
          <a:xfrm>
            <a:off x="8511367" y="4744145"/>
            <a:ext cx="3025104" cy="516930"/>
          </a:xfrm>
          <a:prstGeom prst="rect">
            <a:avLst/>
          </a:prstGeom>
          <a:noFill/>
          <a:ln/>
        </p:spPr>
        <p:txBody>
          <a:bodyPr wrap="square" lIns="0" tIns="0" rIns="0" bIns="0" rtlCol="0" anchor="t">
            <a:normAutofit/>
          </a:bodyPr>
          <a:lstStyle/>
          <a:p>
            <a:pPr marL="0" indent="0" algn="l">
              <a:lnSpc>
                <a:spcPct val="104000"/>
              </a:lnSpc>
              <a:buNone/>
            </a:pPr>
            <a:r>
              <a:rPr lang="en-US" sz="1600" dirty="0">
                <a:solidFill>
                  <a:srgbClr val="E5DCE6"/>
                </a:solidFill>
                <a:latin typeface="Bricolage Grotesque ExtraBold" pitchFamily="34" charset="0"/>
                <a:ea typeface="Bricolage Grotesque ExtraBold" pitchFamily="34" charset="-122"/>
                <a:cs typeface="Bricolage Grotesque ExtraBold" pitchFamily="34" charset="-120"/>
              </a:rPr>
              <a:t>Reduce Consumption &amp; Extend Lifespan</a:t>
            </a:r>
            <a:endParaRPr lang="en-US" sz="1600" dirty="0"/>
          </a:p>
        </p:txBody>
      </p:sp>
      <p:sp>
        <p:nvSpPr>
          <p:cNvPr id="15" name="Text 12"/>
          <p:cNvSpPr/>
          <p:nvPr/>
        </p:nvSpPr>
        <p:spPr>
          <a:xfrm>
            <a:off x="8511367" y="5405735"/>
            <a:ext cx="3025104" cy="744141"/>
          </a:xfrm>
          <a:prstGeom prst="rect">
            <a:avLst/>
          </a:prstGeom>
          <a:noFill/>
          <a:ln/>
        </p:spPr>
        <p:txBody>
          <a:bodyPr wrap="square" lIns="0" tIns="0" rIns="0" bIns="0" rtlCol="0" anchor="t">
            <a:normAutofit/>
          </a:bodyPr>
          <a:lstStyle/>
          <a:p>
            <a:pPr marL="0" indent="0" algn="l">
              <a:lnSpc>
                <a:spcPct val="125000"/>
              </a:lnSpc>
              <a:buNone/>
            </a:pPr>
            <a:r>
              <a:rPr lang="en-US" sz="1300" dirty="0">
                <a:solidFill>
                  <a:srgbClr val="E5DCE6"/>
                </a:solidFill>
                <a:latin typeface="Montserrat" pitchFamily="34" charset="0"/>
                <a:ea typeface="Montserrat" pitchFamily="34" charset="-122"/>
                <a:cs typeface="Montserrat" pitchFamily="34" charset="-120"/>
              </a:rPr>
              <a:t>Lower overall energy use and reduce wear on LED lamps through intelligent dimming and switching.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78359"/>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EEAEF6"/>
                </a:solidFill>
                <a:latin typeface="Bricolage Grotesque ExtraBold" pitchFamily="34" charset="0"/>
                <a:ea typeface="Bricolage Grotesque ExtraBold" pitchFamily="34" charset="-122"/>
                <a:cs typeface="Bricolage Grotesque ExtraBold" pitchFamily="34" charset="-120"/>
              </a:rPr>
              <a:t>Working Principle</a:t>
            </a:r>
            <a:endParaRPr lang="en-US" sz="3700" dirty="0"/>
          </a:p>
        </p:txBody>
      </p:sp>
      <p:pic>
        <p:nvPicPr>
          <p:cNvPr id="3" name="Image 0" descr="preencoded.png"/>
          <p:cNvPicPr>
            <a:picLocks noChangeAspect="1"/>
          </p:cNvPicPr>
          <p:nvPr/>
        </p:nvPicPr>
        <p:blipFill>
          <a:blip r:embed="rId3"/>
          <a:stretch>
            <a:fillRect/>
          </a:stretch>
        </p:blipFill>
        <p:spPr>
          <a:xfrm>
            <a:off x="661475" y="1647031"/>
            <a:ext cx="2980258" cy="2980333"/>
          </a:xfrm>
          <a:prstGeom prst="rect">
            <a:avLst/>
          </a:prstGeom>
        </p:spPr>
      </p:pic>
      <p:sp>
        <p:nvSpPr>
          <p:cNvPr id="4" name="Text 1"/>
          <p:cNvSpPr/>
          <p:nvPr/>
        </p:nvSpPr>
        <p:spPr>
          <a:xfrm>
            <a:off x="661475" y="4863604"/>
            <a:ext cx="3465426"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Daytime</a:t>
            </a:r>
            <a:endParaRPr lang="en-US" sz="1850" dirty="0"/>
          </a:p>
        </p:txBody>
      </p:sp>
      <p:sp>
        <p:nvSpPr>
          <p:cNvPr id="5" name="Text 2"/>
          <p:cNvSpPr/>
          <p:nvPr/>
        </p:nvSpPr>
        <p:spPr>
          <a:xfrm>
            <a:off x="661475" y="5272286"/>
            <a:ext cx="346542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E5DCE6"/>
                </a:solidFill>
                <a:latin typeface="Montserrat" pitchFamily="34" charset="0"/>
                <a:ea typeface="Montserrat" pitchFamily="34" charset="-122"/>
                <a:cs typeface="Montserrat" pitchFamily="34" charset="-120"/>
              </a:rPr>
              <a:t>LDR detects sunlight → lamp stays </a:t>
            </a:r>
            <a:r>
              <a:rPr lang="en-US" sz="1450" b="1" dirty="0">
                <a:solidFill>
                  <a:srgbClr val="E5DCE6"/>
                </a:solidFill>
                <a:latin typeface="Montserrat Bold" pitchFamily="34" charset="0"/>
                <a:ea typeface="Montserrat Bold" pitchFamily="34" charset="-122"/>
                <a:cs typeface="Montserrat Bold" pitchFamily="34" charset="-120"/>
              </a:rPr>
              <a:t>OFF</a:t>
            </a:r>
            <a:r>
              <a:rPr lang="en-US" sz="1450" dirty="0">
                <a:solidFill>
                  <a:srgbClr val="E5DCE6"/>
                </a:solidFill>
                <a:latin typeface="Montserrat" pitchFamily="34" charset="0"/>
                <a:ea typeface="Montserrat" pitchFamily="34" charset="-122"/>
                <a:cs typeface="Montserrat" pitchFamily="34" charset="-120"/>
              </a:rPr>
              <a:t>, conserving energy throughout daylight hours.</a:t>
            </a:r>
            <a:endParaRPr lang="en-US" sz="1450" dirty="0"/>
          </a:p>
        </p:txBody>
      </p:sp>
      <p:pic>
        <p:nvPicPr>
          <p:cNvPr id="6" name="Image 1" descr="preencoded.png"/>
          <p:cNvPicPr>
            <a:picLocks noChangeAspect="1"/>
          </p:cNvPicPr>
          <p:nvPr/>
        </p:nvPicPr>
        <p:blipFill>
          <a:blip r:embed="rId4"/>
          <a:stretch>
            <a:fillRect/>
          </a:stretch>
        </p:blipFill>
        <p:spPr>
          <a:xfrm>
            <a:off x="4363135" y="1647031"/>
            <a:ext cx="2980258" cy="2980333"/>
          </a:xfrm>
          <a:prstGeom prst="rect">
            <a:avLst/>
          </a:prstGeom>
        </p:spPr>
      </p:pic>
      <p:sp>
        <p:nvSpPr>
          <p:cNvPr id="7" name="Text 3"/>
          <p:cNvSpPr/>
          <p:nvPr/>
        </p:nvSpPr>
        <p:spPr>
          <a:xfrm>
            <a:off x="4363135" y="4863604"/>
            <a:ext cx="3465426"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Night — No Motion</a:t>
            </a:r>
            <a:endParaRPr lang="en-US" sz="1850" dirty="0"/>
          </a:p>
        </p:txBody>
      </p:sp>
      <p:sp>
        <p:nvSpPr>
          <p:cNvPr id="8" name="Text 4"/>
          <p:cNvSpPr/>
          <p:nvPr/>
        </p:nvSpPr>
        <p:spPr>
          <a:xfrm>
            <a:off x="4363135" y="5272286"/>
            <a:ext cx="346542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E5DCE6"/>
                </a:solidFill>
                <a:latin typeface="Montserrat" pitchFamily="34" charset="0"/>
                <a:ea typeface="Montserrat" pitchFamily="34" charset="-122"/>
                <a:cs typeface="Montserrat" pitchFamily="34" charset="-120"/>
              </a:rPr>
              <a:t>Lamp operates at a </a:t>
            </a:r>
            <a:r>
              <a:rPr lang="en-US" sz="1450" b="1" dirty="0">
                <a:solidFill>
                  <a:srgbClr val="E5DCE6"/>
                </a:solidFill>
                <a:latin typeface="Montserrat Bold" pitchFamily="34" charset="0"/>
                <a:ea typeface="Montserrat Bold" pitchFamily="34" charset="-122"/>
                <a:cs typeface="Montserrat Bold" pitchFamily="34" charset="-120"/>
              </a:rPr>
              <a:t>dim level</a:t>
            </a:r>
            <a:r>
              <a:rPr lang="en-US" sz="1450" dirty="0">
                <a:solidFill>
                  <a:srgbClr val="E5DCE6"/>
                </a:solidFill>
                <a:latin typeface="Montserrat" pitchFamily="34" charset="0"/>
                <a:ea typeface="Montserrat" pitchFamily="34" charset="-122"/>
                <a:cs typeface="Montserrat" pitchFamily="34" charset="-120"/>
              </a:rPr>
              <a:t> for baseline visibility and significant energy savings.</a:t>
            </a:r>
            <a:endParaRPr lang="en-US" sz="1450" dirty="0"/>
          </a:p>
        </p:txBody>
      </p:sp>
      <p:pic>
        <p:nvPicPr>
          <p:cNvPr id="9" name="Image 2" descr="preencoded.png"/>
          <p:cNvPicPr>
            <a:picLocks noChangeAspect="1"/>
          </p:cNvPicPr>
          <p:nvPr/>
        </p:nvPicPr>
        <p:blipFill>
          <a:blip r:embed="rId5"/>
          <a:stretch>
            <a:fillRect/>
          </a:stretch>
        </p:blipFill>
        <p:spPr>
          <a:xfrm>
            <a:off x="8064794" y="1647031"/>
            <a:ext cx="2980258" cy="2980333"/>
          </a:xfrm>
          <a:prstGeom prst="rect">
            <a:avLst/>
          </a:prstGeom>
        </p:spPr>
      </p:pic>
      <p:sp>
        <p:nvSpPr>
          <p:cNvPr id="10" name="Text 5"/>
          <p:cNvSpPr/>
          <p:nvPr/>
        </p:nvSpPr>
        <p:spPr>
          <a:xfrm>
            <a:off x="8064794" y="4863604"/>
            <a:ext cx="3465426" cy="295275"/>
          </a:xfrm>
          <a:prstGeom prst="rect">
            <a:avLst/>
          </a:prstGeom>
          <a:noFill/>
          <a:ln/>
        </p:spPr>
        <p:txBody>
          <a:bodyPr wrap="none" lIns="0" tIns="0" rIns="0" bIns="0" rtlCol="0" anchor="t"/>
          <a:lstStyle/>
          <a:p>
            <a:pPr marL="0" indent="0" algn="l">
              <a:lnSpc>
                <a:spcPct val="104000"/>
              </a:lnSpc>
              <a:buNone/>
            </a:pPr>
            <a:r>
              <a:rPr lang="en-US" sz="1850" dirty="0">
                <a:solidFill>
                  <a:srgbClr val="E5DCE6"/>
                </a:solidFill>
                <a:latin typeface="Bricolage Grotesque ExtraBold" pitchFamily="34" charset="0"/>
                <a:ea typeface="Bricolage Grotesque ExtraBold" pitchFamily="34" charset="-122"/>
                <a:cs typeface="Bricolage Grotesque ExtraBold" pitchFamily="34" charset="-120"/>
              </a:rPr>
              <a:t>Night — Motion Detected</a:t>
            </a:r>
            <a:endParaRPr lang="en-US" sz="1850" dirty="0"/>
          </a:p>
        </p:txBody>
      </p:sp>
      <p:sp>
        <p:nvSpPr>
          <p:cNvPr id="11" name="Text 6"/>
          <p:cNvSpPr/>
          <p:nvPr/>
        </p:nvSpPr>
        <p:spPr>
          <a:xfrm>
            <a:off x="8064794" y="5272286"/>
            <a:ext cx="3465426"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E5DCE6"/>
                </a:solidFill>
                <a:latin typeface="Montserrat" pitchFamily="34" charset="0"/>
                <a:ea typeface="Montserrat" pitchFamily="34" charset="-122"/>
                <a:cs typeface="Montserrat" pitchFamily="34" charset="-120"/>
              </a:rPr>
              <a:t>IR/PIR triggers lamp to switch to </a:t>
            </a:r>
            <a:r>
              <a:rPr lang="en-US" sz="1450" b="1" dirty="0">
                <a:solidFill>
                  <a:srgbClr val="E5DCE6"/>
                </a:solidFill>
                <a:latin typeface="Montserrat Bold" pitchFamily="34" charset="0"/>
                <a:ea typeface="Montserrat Bold" pitchFamily="34" charset="-122"/>
                <a:cs typeface="Montserrat Bold" pitchFamily="34" charset="-120"/>
              </a:rPr>
              <a:t>full brightness</a:t>
            </a:r>
            <a:r>
              <a:rPr lang="en-US" sz="1450" dirty="0">
                <a:solidFill>
                  <a:srgbClr val="E5DCE6"/>
                </a:solidFill>
                <a:latin typeface="Montserrat" pitchFamily="34" charset="0"/>
                <a:ea typeface="Montserrat" pitchFamily="34" charset="-122"/>
                <a:cs typeface="Montserrat" pitchFamily="34" charset="-120"/>
              </a:rPr>
              <a:t> immediately for pedestrian and vehicle safety.</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31316"/>
            <a:ext cx="10868745" cy="507603"/>
          </a:xfrm>
          <a:prstGeom prst="rect">
            <a:avLst/>
          </a:prstGeom>
          <a:noFill/>
          <a:ln/>
        </p:spPr>
        <p:txBody>
          <a:bodyPr wrap="none" lIns="0" tIns="0" rIns="0" bIns="0" rtlCol="0" anchor="t"/>
          <a:lstStyle/>
          <a:p>
            <a:pPr marL="0" indent="0" algn="l">
              <a:lnSpc>
                <a:spcPct val="104000"/>
              </a:lnSpc>
              <a:buNone/>
            </a:pPr>
            <a:r>
              <a:rPr lang="en-US" sz="3150" dirty="0">
                <a:solidFill>
                  <a:srgbClr val="EEAEF6"/>
                </a:solidFill>
                <a:latin typeface="Bricolage Grotesque ExtraBold" pitchFamily="34" charset="0"/>
                <a:ea typeface="Bricolage Grotesque ExtraBold" pitchFamily="34" charset="-122"/>
                <a:cs typeface="Bricolage Grotesque ExtraBold" pitchFamily="34" charset="-120"/>
              </a:rPr>
              <a:t>Control Logic &amp; Implementation</a:t>
            </a:r>
            <a:endParaRPr lang="en-US" sz="3150" dirty="0"/>
          </a:p>
        </p:txBody>
      </p:sp>
      <p:sp>
        <p:nvSpPr>
          <p:cNvPr id="3" name="Text 1"/>
          <p:cNvSpPr/>
          <p:nvPr/>
        </p:nvSpPr>
        <p:spPr>
          <a:xfrm>
            <a:off x="661475" y="1387773"/>
            <a:ext cx="3546485" cy="253802"/>
          </a:xfrm>
          <a:prstGeom prst="rect">
            <a:avLst/>
          </a:prstGeom>
          <a:noFill/>
          <a:ln/>
        </p:spPr>
        <p:txBody>
          <a:bodyPr wrap="none" lIns="0" tIns="0" rIns="0" bIns="0" rtlCol="0" anchor="t"/>
          <a:lstStyle/>
          <a:p>
            <a:pPr marL="0" indent="0" algn="l">
              <a:lnSpc>
                <a:spcPct val="104000"/>
              </a:lnSpc>
              <a:buNone/>
            </a:pPr>
            <a:r>
              <a:rPr lang="en-US" sz="1550" dirty="0">
                <a:solidFill>
                  <a:srgbClr val="EEAEF6"/>
                </a:solidFill>
                <a:latin typeface="Bricolage Grotesque ExtraBold" pitchFamily="34" charset="0"/>
                <a:ea typeface="Bricolage Grotesque ExtraBold" pitchFamily="34" charset="-122"/>
                <a:cs typeface="Bricolage Grotesque ExtraBold" pitchFamily="34" charset="-120"/>
              </a:rPr>
              <a:t>Basic Approach</a:t>
            </a:r>
            <a:endParaRPr lang="en-US" sz="1550" dirty="0"/>
          </a:p>
        </p:txBody>
      </p:sp>
      <p:sp>
        <p:nvSpPr>
          <p:cNvPr id="4" name="Text 2"/>
          <p:cNvSpPr/>
          <p:nvPr/>
        </p:nvSpPr>
        <p:spPr>
          <a:xfrm>
            <a:off x="661475" y="1781076"/>
            <a:ext cx="3546485" cy="1207988"/>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E5DCE6"/>
                </a:solidFill>
                <a:latin typeface="Montserrat" pitchFamily="34" charset="0"/>
                <a:ea typeface="Montserrat" pitchFamily="34" charset="-122"/>
                <a:cs typeface="Montserrat" pitchFamily="34" charset="-120"/>
              </a:rPr>
              <a:t>A transistor circuit operates in </a:t>
            </a:r>
            <a:r>
              <a:rPr lang="en-US" sz="1250" b="1" dirty="0">
                <a:solidFill>
                  <a:srgbClr val="E5DCE6"/>
                </a:solidFill>
                <a:latin typeface="Montserrat Bold" pitchFamily="34" charset="0"/>
                <a:ea typeface="Montserrat Bold" pitchFamily="34" charset="-122"/>
                <a:cs typeface="Montserrat Bold" pitchFamily="34" charset="-120"/>
              </a:rPr>
              <a:t>saturation (ON)</a:t>
            </a:r>
            <a:r>
              <a:rPr lang="en-US" sz="1250" dirty="0">
                <a:solidFill>
                  <a:srgbClr val="E5DCE6"/>
                </a:solidFill>
                <a:latin typeface="Montserrat" pitchFamily="34" charset="0"/>
                <a:ea typeface="Montserrat" pitchFamily="34" charset="-122"/>
                <a:cs typeface="Montserrat" pitchFamily="34" charset="-120"/>
              </a:rPr>
              <a:t> and </a:t>
            </a:r>
            <a:r>
              <a:rPr lang="en-US" sz="1250" b="1" dirty="0">
                <a:solidFill>
                  <a:srgbClr val="E5DCE6"/>
                </a:solidFill>
                <a:latin typeface="Montserrat Bold" pitchFamily="34" charset="0"/>
                <a:ea typeface="Montserrat Bold" pitchFamily="34" charset="-122"/>
                <a:cs typeface="Montserrat Bold" pitchFamily="34" charset="-120"/>
              </a:rPr>
              <a:t>cut-off (OFF)</a:t>
            </a:r>
            <a:r>
              <a:rPr lang="en-US" sz="1250" dirty="0">
                <a:solidFill>
                  <a:srgbClr val="E5DCE6"/>
                </a:solidFill>
                <a:latin typeface="Montserrat" pitchFamily="34" charset="0"/>
                <a:ea typeface="Montserrat" pitchFamily="34" charset="-122"/>
                <a:cs typeface="Montserrat" pitchFamily="34" charset="-120"/>
              </a:rPr>
              <a:t> regions to switch the lamp based on sensor input — a straightforward digital logic implementation.</a:t>
            </a:r>
            <a:endParaRPr lang="en-US" sz="1250" dirty="0"/>
          </a:p>
        </p:txBody>
      </p:sp>
      <p:sp>
        <p:nvSpPr>
          <p:cNvPr id="5" name="Text 3"/>
          <p:cNvSpPr/>
          <p:nvPr/>
        </p:nvSpPr>
        <p:spPr>
          <a:xfrm>
            <a:off x="661475" y="3128566"/>
            <a:ext cx="3546485" cy="253802"/>
          </a:xfrm>
          <a:prstGeom prst="rect">
            <a:avLst/>
          </a:prstGeom>
          <a:noFill/>
          <a:ln/>
        </p:spPr>
        <p:txBody>
          <a:bodyPr wrap="none" lIns="0" tIns="0" rIns="0" bIns="0" rtlCol="0" anchor="t"/>
          <a:lstStyle/>
          <a:p>
            <a:pPr marL="0" indent="0" algn="l">
              <a:lnSpc>
                <a:spcPct val="104000"/>
              </a:lnSpc>
              <a:buNone/>
            </a:pPr>
            <a:r>
              <a:rPr lang="en-US" sz="1550" dirty="0">
                <a:solidFill>
                  <a:srgbClr val="EEAEF6"/>
                </a:solidFill>
                <a:latin typeface="Bricolage Grotesque ExtraBold" pitchFamily="34" charset="0"/>
                <a:ea typeface="Bricolage Grotesque ExtraBold" pitchFamily="34" charset="-122"/>
                <a:cs typeface="Bricolage Grotesque ExtraBold" pitchFamily="34" charset="-120"/>
              </a:rPr>
              <a:t>Advanced Approach</a:t>
            </a:r>
            <a:endParaRPr lang="en-US" sz="1550" dirty="0"/>
          </a:p>
        </p:txBody>
      </p:sp>
      <p:sp>
        <p:nvSpPr>
          <p:cNvPr id="6" name="Text 4"/>
          <p:cNvSpPr/>
          <p:nvPr/>
        </p:nvSpPr>
        <p:spPr>
          <a:xfrm>
            <a:off x="661475" y="3521869"/>
            <a:ext cx="3546485" cy="1207988"/>
          </a:xfrm>
          <a:prstGeom prst="rect">
            <a:avLst/>
          </a:prstGeom>
          <a:noFill/>
          <a:ln/>
        </p:spPr>
        <p:txBody>
          <a:bodyPr wrap="square" lIns="0" tIns="0" rIns="0" bIns="0" rtlCol="0" anchor="t">
            <a:normAutofit/>
          </a:bodyPr>
          <a:lstStyle/>
          <a:p>
            <a:pPr marL="0" indent="0" algn="l">
              <a:lnSpc>
                <a:spcPct val="124000"/>
              </a:lnSpc>
              <a:buNone/>
            </a:pPr>
            <a:r>
              <a:rPr lang="en-US" sz="1250" dirty="0">
                <a:solidFill>
                  <a:srgbClr val="E5DCE6"/>
                </a:solidFill>
                <a:latin typeface="Montserrat" pitchFamily="34" charset="0"/>
                <a:ea typeface="Montserrat" pitchFamily="34" charset="-122"/>
                <a:cs typeface="Montserrat" pitchFamily="34" charset="-120"/>
              </a:rPr>
              <a:t>A microcontroller divides the night into time slots and applies </a:t>
            </a:r>
            <a:r>
              <a:rPr lang="en-US" sz="1250" b="1" dirty="0">
                <a:solidFill>
                  <a:srgbClr val="E5DCE6"/>
                </a:solidFill>
                <a:latin typeface="Montserrat Bold" pitchFamily="34" charset="0"/>
                <a:ea typeface="Montserrat Bold" pitchFamily="34" charset="-122"/>
                <a:cs typeface="Montserrat Bold" pitchFamily="34" charset="-120"/>
              </a:rPr>
              <a:t>Pulse Width Modulation (PWM)</a:t>
            </a:r>
            <a:r>
              <a:rPr lang="en-US" sz="1250" dirty="0">
                <a:solidFill>
                  <a:srgbClr val="E5DCE6"/>
                </a:solidFill>
                <a:latin typeface="Montserrat" pitchFamily="34" charset="0"/>
                <a:ea typeface="Montserrat" pitchFamily="34" charset="-122"/>
                <a:cs typeface="Montserrat" pitchFamily="34" charset="-120"/>
              </a:rPr>
              <a:t> for variable brightness control, enabling fine-grained energy management.</a:t>
            </a:r>
            <a:endParaRPr lang="en-US" sz="1250" dirty="0"/>
          </a:p>
        </p:txBody>
      </p:sp>
      <p:sp>
        <p:nvSpPr>
          <p:cNvPr id="7" name="Text 5"/>
          <p:cNvSpPr/>
          <p:nvPr/>
        </p:nvSpPr>
        <p:spPr>
          <a:xfrm>
            <a:off x="661475" y="4869359"/>
            <a:ext cx="3546485" cy="253802"/>
          </a:xfrm>
          <a:prstGeom prst="rect">
            <a:avLst/>
          </a:prstGeom>
          <a:noFill/>
          <a:ln/>
        </p:spPr>
        <p:txBody>
          <a:bodyPr wrap="none" lIns="0" tIns="0" rIns="0" bIns="0" rtlCol="0" anchor="t"/>
          <a:lstStyle/>
          <a:p>
            <a:pPr marL="0" indent="0" algn="l">
              <a:lnSpc>
                <a:spcPct val="104000"/>
              </a:lnSpc>
              <a:buNone/>
            </a:pPr>
            <a:r>
              <a:rPr lang="en-US" sz="1550" dirty="0">
                <a:solidFill>
                  <a:srgbClr val="EEAEF6"/>
                </a:solidFill>
                <a:latin typeface="Bricolage Grotesque ExtraBold" pitchFamily="34" charset="0"/>
                <a:ea typeface="Bricolage Grotesque ExtraBold" pitchFamily="34" charset="-122"/>
                <a:cs typeface="Bricolage Grotesque ExtraBold" pitchFamily="34" charset="-120"/>
              </a:rPr>
              <a:t>Simulation Tools</a:t>
            </a:r>
            <a:endParaRPr lang="en-US" sz="1550" dirty="0"/>
          </a:p>
        </p:txBody>
      </p:sp>
      <p:sp>
        <p:nvSpPr>
          <p:cNvPr id="8" name="Text 6"/>
          <p:cNvSpPr/>
          <p:nvPr/>
        </p:nvSpPr>
        <p:spPr>
          <a:xfrm>
            <a:off x="661475" y="5262662"/>
            <a:ext cx="3546485" cy="1015206"/>
          </a:xfrm>
          <a:prstGeom prst="rect">
            <a:avLst/>
          </a:prstGeom>
          <a:noFill/>
          <a:ln/>
        </p:spPr>
        <p:txBody>
          <a:bodyPr wrap="square" lIns="0" tIns="0" rIns="0" bIns="0" rtlCol="0" anchor="t">
            <a:normAutofit/>
          </a:bodyPr>
          <a:lstStyle/>
          <a:p>
            <a:pPr marL="254000" indent="-254000" algn="l">
              <a:lnSpc>
                <a:spcPct val="124000"/>
              </a:lnSpc>
              <a:buSzPct val="100000"/>
              <a:buChar char="•"/>
            </a:pPr>
            <a:r>
              <a:rPr lang="en-US" sz="1250" b="1" dirty="0">
                <a:solidFill>
                  <a:srgbClr val="E5DCE6"/>
                </a:solidFill>
                <a:latin typeface="Montserrat Bold" pitchFamily="34" charset="0"/>
                <a:ea typeface="Montserrat Bold" pitchFamily="34" charset="-122"/>
                <a:cs typeface="Montserrat Bold" pitchFamily="34" charset="-120"/>
              </a:rPr>
              <a:t>Proteus 8</a:t>
            </a:r>
            <a:r>
              <a:rPr lang="en-US" sz="1250" dirty="0">
                <a:solidFill>
                  <a:srgbClr val="E5DCE6"/>
                </a:solidFill>
                <a:latin typeface="Montserrat" pitchFamily="34" charset="0"/>
                <a:ea typeface="Montserrat" pitchFamily="34" charset="-122"/>
                <a:cs typeface="Montserrat" pitchFamily="34" charset="-120"/>
              </a:rPr>
              <a:t> — circuit-level simulation and validation</a:t>
            </a:r>
            <a:endParaRPr lang="en-US" sz="1250" dirty="0"/>
          </a:p>
          <a:p>
            <a:pPr marL="254000" indent="-254000" algn="l">
              <a:lnSpc>
                <a:spcPct val="124000"/>
              </a:lnSpc>
              <a:buSzPct val="100000"/>
              <a:buChar char="•"/>
            </a:pPr>
            <a:r>
              <a:rPr lang="en-US" sz="1250" b="1" dirty="0">
                <a:solidFill>
                  <a:srgbClr val="E5DCE6"/>
                </a:solidFill>
                <a:latin typeface="Montserrat Bold" pitchFamily="34" charset="0"/>
                <a:ea typeface="Montserrat Bold" pitchFamily="34" charset="-122"/>
                <a:cs typeface="Montserrat Bold" pitchFamily="34" charset="-120"/>
              </a:rPr>
              <a:t>Quartus &amp; Verilog HDL</a:t>
            </a:r>
            <a:r>
              <a:rPr lang="en-US" sz="1250" dirty="0">
                <a:solidFill>
                  <a:srgbClr val="E5DCE6"/>
                </a:solidFill>
                <a:latin typeface="Montserrat" pitchFamily="34" charset="0"/>
                <a:ea typeface="Montserrat" pitchFamily="34" charset="-122"/>
                <a:cs typeface="Montserrat" pitchFamily="34" charset="-120"/>
              </a:rPr>
              <a:t> — FPGA-based digital design and synthesis</a:t>
            </a:r>
            <a:endParaRPr lang="en-US" sz="1250" dirty="0"/>
          </a:p>
        </p:txBody>
      </p:sp>
      <p:pic>
        <p:nvPicPr>
          <p:cNvPr id="9" name="Image 0" descr="preencoded.png"/>
          <p:cNvPicPr>
            <a:picLocks noChangeAspect="1"/>
          </p:cNvPicPr>
          <p:nvPr/>
        </p:nvPicPr>
        <p:blipFill>
          <a:blip r:embed="rId3"/>
          <a:stretch>
            <a:fillRect/>
          </a:stretch>
        </p:blipFill>
        <p:spPr>
          <a:xfrm>
            <a:off x="4610580" y="1825030"/>
            <a:ext cx="6925990" cy="39247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70024"/>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EEAEF6"/>
                </a:solidFill>
                <a:latin typeface="Bricolage Grotesque ExtraBold" pitchFamily="34" charset="0"/>
                <a:ea typeface="Bricolage Grotesque ExtraBold" pitchFamily="34" charset="-122"/>
                <a:cs typeface="Bricolage Grotesque ExtraBold" pitchFamily="34" charset="-120"/>
              </a:rPr>
              <a:t>Results: Energy Savings Across Designs</a:t>
            </a:r>
            <a:endParaRPr lang="en-US" sz="3450" dirty="0"/>
          </a:p>
        </p:txBody>
      </p:sp>
      <p:pic>
        <p:nvPicPr>
          <p:cNvPr id="3" name="Image 0" descr="preencoded.png"/>
          <p:cNvPicPr>
            <a:picLocks noChangeAspect="1"/>
          </p:cNvPicPr>
          <p:nvPr/>
        </p:nvPicPr>
        <p:blipFill>
          <a:blip r:embed="rId3"/>
          <a:stretch>
            <a:fillRect/>
          </a:stretch>
        </p:blipFill>
        <p:spPr>
          <a:xfrm>
            <a:off x="661475" y="1659731"/>
            <a:ext cx="5218280" cy="3756223"/>
          </a:xfrm>
          <a:prstGeom prst="rect">
            <a:avLst/>
          </a:prstGeom>
        </p:spPr>
      </p:pic>
      <p:sp>
        <p:nvSpPr>
          <p:cNvPr id="4" name="Text 1"/>
          <p:cNvSpPr/>
          <p:nvPr/>
        </p:nvSpPr>
        <p:spPr>
          <a:xfrm>
            <a:off x="6318290" y="1638995"/>
            <a:ext cx="5218280" cy="276920"/>
          </a:xfrm>
          <a:prstGeom prst="rect">
            <a:avLst/>
          </a:prstGeom>
          <a:noFill/>
          <a:ln/>
        </p:spPr>
        <p:txBody>
          <a:bodyPr wrap="none" lIns="0" tIns="0" rIns="0" bIns="0" rtlCol="0" anchor="t"/>
          <a:lstStyle/>
          <a:p>
            <a:pPr marL="0" indent="0" algn="l">
              <a:lnSpc>
                <a:spcPct val="104000"/>
              </a:lnSpc>
              <a:buNone/>
            </a:pPr>
            <a:r>
              <a:rPr lang="en-US" sz="1700" dirty="0">
                <a:solidFill>
                  <a:srgbClr val="EEAEF6"/>
                </a:solidFill>
                <a:latin typeface="Bricolage Grotesque ExtraBold" pitchFamily="34" charset="0"/>
                <a:ea typeface="Bricolage Grotesque ExtraBold" pitchFamily="34" charset="-122"/>
                <a:cs typeface="Bricolage Grotesque ExtraBold" pitchFamily="34" charset="-120"/>
              </a:rPr>
              <a:t>Key Findings</a:t>
            </a:r>
            <a:endParaRPr lang="en-US" sz="1700" dirty="0"/>
          </a:p>
        </p:txBody>
      </p:sp>
      <p:sp>
        <p:nvSpPr>
          <p:cNvPr id="5" name="Text 2"/>
          <p:cNvSpPr/>
          <p:nvPr/>
        </p:nvSpPr>
        <p:spPr>
          <a:xfrm>
            <a:off x="6318290" y="2082006"/>
            <a:ext cx="5218280" cy="823913"/>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E5DCE6"/>
                </a:solidFill>
                <a:latin typeface="Montserrat" pitchFamily="34" charset="0"/>
                <a:ea typeface="Montserrat" pitchFamily="34" charset="-122"/>
                <a:cs typeface="Montserrat" pitchFamily="34" charset="-120"/>
              </a:rPr>
              <a:t>Across all reviewed designs, intelligent street light controllers consistently outperform conventional fixed-timer systems:</a:t>
            </a:r>
            <a:endParaRPr lang="en-US" sz="1350" dirty="0"/>
          </a:p>
        </p:txBody>
      </p:sp>
      <p:sp>
        <p:nvSpPr>
          <p:cNvPr id="6" name="Text 3"/>
          <p:cNvSpPr/>
          <p:nvPr/>
        </p:nvSpPr>
        <p:spPr>
          <a:xfrm>
            <a:off x="6318290" y="3055342"/>
            <a:ext cx="5218280" cy="1822252"/>
          </a:xfrm>
          <a:prstGeom prst="rect">
            <a:avLst/>
          </a:prstGeom>
          <a:noFill/>
          <a:ln/>
        </p:spPr>
        <p:txBody>
          <a:bodyPr wrap="square" lIns="0" tIns="0" rIns="0" bIns="0" rtlCol="0" anchor="t">
            <a:normAutofit/>
          </a:bodyPr>
          <a:lstStyle/>
          <a:p>
            <a:pPr marL="274320" indent="-274320" algn="l">
              <a:lnSpc>
                <a:spcPct val="129000"/>
              </a:lnSpc>
              <a:buSzPct val="100000"/>
              <a:buChar char="•"/>
            </a:pPr>
            <a:r>
              <a:rPr lang="en-US" sz="1350" b="1" dirty="0">
                <a:solidFill>
                  <a:srgbClr val="E5DCE6"/>
                </a:solidFill>
                <a:latin typeface="Montserrat Bold" pitchFamily="34" charset="0"/>
                <a:ea typeface="Montserrat Bold" pitchFamily="34" charset="-122"/>
                <a:cs typeface="Montserrat Bold" pitchFamily="34" charset="-120"/>
              </a:rPr>
              <a:t>RTC + PWM solar system:</a:t>
            </a:r>
            <a:r>
              <a:rPr lang="en-US" sz="1350" dirty="0">
                <a:solidFill>
                  <a:srgbClr val="E5DCE6"/>
                </a:solidFill>
                <a:latin typeface="Montserrat" pitchFamily="34" charset="0"/>
                <a:ea typeface="Montserrat" pitchFamily="34" charset="-122"/>
                <a:cs typeface="Montserrat" pitchFamily="34" charset="-120"/>
              </a:rPr>
              <a:t> 23.7% energy savings</a:t>
            </a:r>
            <a:endParaRPr lang="en-US" sz="1350" dirty="0"/>
          </a:p>
          <a:p>
            <a:pPr marL="274320" indent="-274320" algn="l">
              <a:lnSpc>
                <a:spcPct val="129000"/>
              </a:lnSpc>
              <a:buSzPct val="100000"/>
              <a:buChar char="•"/>
            </a:pPr>
            <a:r>
              <a:rPr lang="en-US" sz="1350" b="1" dirty="0">
                <a:solidFill>
                  <a:srgbClr val="E5DCE6"/>
                </a:solidFill>
                <a:latin typeface="Montserrat Bold" pitchFamily="34" charset="0"/>
                <a:ea typeface="Montserrat Bold" pitchFamily="34" charset="-122"/>
                <a:cs typeface="Montserrat Bold" pitchFamily="34" charset="-120"/>
              </a:rPr>
              <a:t>PIR + LDR dim/bright prototype:</a:t>
            </a:r>
            <a:r>
              <a:rPr lang="en-US" sz="1350" dirty="0">
                <a:solidFill>
                  <a:srgbClr val="E5DCE6"/>
                </a:solidFill>
                <a:latin typeface="Montserrat" pitchFamily="34" charset="0"/>
                <a:ea typeface="Montserrat" pitchFamily="34" charset="-122"/>
                <a:cs typeface="Montserrat" pitchFamily="34" charset="-120"/>
              </a:rPr>
              <a:t> ~45% estimated reduction</a:t>
            </a:r>
            <a:endParaRPr lang="en-US" sz="1350" dirty="0"/>
          </a:p>
          <a:p>
            <a:pPr marL="274320" indent="-274320" algn="l">
              <a:lnSpc>
                <a:spcPct val="129000"/>
              </a:lnSpc>
              <a:buSzPct val="100000"/>
              <a:buChar char="•"/>
            </a:pPr>
            <a:r>
              <a:rPr lang="en-US" sz="1350" b="1" dirty="0">
                <a:solidFill>
                  <a:srgbClr val="E5DCE6"/>
                </a:solidFill>
                <a:latin typeface="Montserrat Bold" pitchFamily="34" charset="0"/>
                <a:ea typeface="Montserrat Bold" pitchFamily="34" charset="-122"/>
                <a:cs typeface="Montserrat Bold" pitchFamily="34" charset="-120"/>
              </a:rPr>
              <a:t>ARM + RTC smart system:</a:t>
            </a:r>
            <a:r>
              <a:rPr lang="en-US" sz="1350" dirty="0">
                <a:solidFill>
                  <a:srgbClr val="E5DCE6"/>
                </a:solidFill>
                <a:latin typeface="Montserrat" pitchFamily="34" charset="0"/>
                <a:ea typeface="Montserrat" pitchFamily="34" charset="-122"/>
                <a:cs typeface="Montserrat" pitchFamily="34" charset="-120"/>
              </a:rPr>
              <a:t> 50% excess power reduction</a:t>
            </a:r>
            <a:endParaRPr lang="en-US" sz="1350" dirty="0"/>
          </a:p>
          <a:p>
            <a:pPr marL="274320" indent="-274320" algn="l">
              <a:lnSpc>
                <a:spcPct val="129000"/>
              </a:lnSpc>
              <a:buSzPct val="100000"/>
              <a:buChar char="•"/>
            </a:pPr>
            <a:r>
              <a:rPr lang="en-US" sz="1350" b="1" dirty="0">
                <a:solidFill>
                  <a:srgbClr val="E5DCE6"/>
                </a:solidFill>
                <a:latin typeface="Montserrat Bold" pitchFamily="34" charset="0"/>
                <a:ea typeface="Montserrat Bold" pitchFamily="34" charset="-122"/>
                <a:cs typeface="Montserrat Bold" pitchFamily="34" charset="-120"/>
              </a:rPr>
              <a:t>VLSI traffic-adaptive controller:</a:t>
            </a:r>
            <a:r>
              <a:rPr lang="en-US" sz="1350" dirty="0">
                <a:solidFill>
                  <a:srgbClr val="E5DCE6"/>
                </a:solidFill>
                <a:latin typeface="Montserrat" pitchFamily="34" charset="0"/>
                <a:ea typeface="Montserrat" pitchFamily="34" charset="-122"/>
                <a:cs typeface="Montserrat" pitchFamily="34" charset="-120"/>
              </a:rPr>
              <a:t> 77.78% power reduction</a:t>
            </a:r>
            <a:endParaRPr lang="en-US" sz="1350" dirty="0"/>
          </a:p>
        </p:txBody>
      </p:sp>
      <p:sp>
        <p:nvSpPr>
          <p:cNvPr id="7" name="Shape 4"/>
          <p:cNvSpPr/>
          <p:nvPr/>
        </p:nvSpPr>
        <p:spPr>
          <a:xfrm>
            <a:off x="6318290" y="5064423"/>
            <a:ext cx="5218280" cy="936625"/>
          </a:xfrm>
          <a:prstGeom prst="roundRect">
            <a:avLst>
              <a:gd name="adj" fmla="val 7946"/>
            </a:avLst>
          </a:prstGeom>
          <a:solidFill>
            <a:srgbClr val="183A13"/>
          </a:solidFill>
          <a:ln/>
        </p:spPr>
      </p:sp>
      <p:pic>
        <p:nvPicPr>
          <p:cNvPr id="8" name="Image 1" descr="preencoded.png"/>
          <p:cNvPicPr>
            <a:picLocks noChangeAspect="1"/>
          </p:cNvPicPr>
          <p:nvPr/>
        </p:nvPicPr>
        <p:blipFill>
          <a:blip r:embed="rId4"/>
          <a:stretch>
            <a:fillRect/>
          </a:stretch>
        </p:blipFill>
        <p:spPr>
          <a:xfrm>
            <a:off x="6495491" y="5316538"/>
            <a:ext cx="221451" cy="177205"/>
          </a:xfrm>
          <a:prstGeom prst="rect">
            <a:avLst/>
          </a:prstGeom>
        </p:spPr>
      </p:pic>
      <p:sp>
        <p:nvSpPr>
          <p:cNvPr id="9" name="Text 5"/>
          <p:cNvSpPr/>
          <p:nvPr/>
        </p:nvSpPr>
        <p:spPr>
          <a:xfrm>
            <a:off x="6894142" y="5258098"/>
            <a:ext cx="4465228"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FFFFFF"/>
                </a:solidFill>
                <a:latin typeface="Montserrat" pitchFamily="34" charset="0"/>
                <a:ea typeface="Montserrat" pitchFamily="34" charset="-122"/>
                <a:cs typeface="Montserrat" pitchFamily="34" charset="-120"/>
              </a:rPr>
              <a:t>More sophisticated sensing and control logic yields dramatically greater energy savings.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1210" y="0"/>
                </a:lnTo>
                <a:lnTo>
                  <a:pt x="92090" y="2640"/>
                </a:lnTo>
                <a:lnTo>
                  <a:pt x="93070" y="7030"/>
                </a:lnTo>
                <a:lnTo>
                  <a:pt x="93650" y="11330"/>
                </a:lnTo>
                <a:lnTo>
                  <a:pt x="93850" y="14750"/>
                </a:lnTo>
                <a:lnTo>
                  <a:pt x="93460" y="21970"/>
                </a:lnTo>
                <a:lnTo>
                  <a:pt x="91990" y="31150"/>
                </a:lnTo>
                <a:lnTo>
                  <a:pt x="91410" y="36520"/>
                </a:lnTo>
                <a:lnTo>
                  <a:pt x="91210" y="40040"/>
                </a:lnTo>
                <a:lnTo>
                  <a:pt x="91310" y="45700"/>
                </a:lnTo>
                <a:lnTo>
                  <a:pt x="91890" y="48930"/>
                </a:lnTo>
                <a:lnTo>
                  <a:pt x="93160" y="52540"/>
                </a:lnTo>
                <a:lnTo>
                  <a:pt x="94920" y="56050"/>
                </a:lnTo>
                <a:lnTo>
                  <a:pt x="97170" y="59860"/>
                </a:lnTo>
                <a:lnTo>
                  <a:pt x="98730" y="63280"/>
                </a:lnTo>
                <a:lnTo>
                  <a:pt x="99800" y="67290"/>
                </a:lnTo>
                <a:lnTo>
                  <a:pt x="100000" y="71480"/>
                </a:lnTo>
                <a:lnTo>
                  <a:pt x="99710" y="73630"/>
                </a:lnTo>
                <a:lnTo>
                  <a:pt x="99020" y="76460"/>
                </a:lnTo>
                <a:lnTo>
                  <a:pt x="97750" y="80180"/>
                </a:lnTo>
                <a:lnTo>
                  <a:pt x="96390" y="83400"/>
                </a:lnTo>
                <a:lnTo>
                  <a:pt x="91890" y="91990"/>
                </a:lnTo>
                <a:lnTo>
                  <a:pt x="89450" y="96000"/>
                </a:lnTo>
                <a:lnTo>
                  <a:pt x="86720" y="100000"/>
                </a:lnTo>
                <a:lnTo>
                  <a:pt x="0" y="100000"/>
                </a:lnTo>
                <a:close/>
              </a:path>
            </a:pathLst>
          </a:custGeom>
        </p:spPr>
      </p:pic>
      <p:sp>
        <p:nvSpPr>
          <p:cNvPr id="3" name="Text 0"/>
          <p:cNvSpPr/>
          <p:nvPr/>
        </p:nvSpPr>
        <p:spPr>
          <a:xfrm>
            <a:off x="5233360" y="569416"/>
            <a:ext cx="6296860" cy="443012"/>
          </a:xfrm>
          <a:prstGeom prst="rect">
            <a:avLst/>
          </a:prstGeom>
          <a:noFill/>
          <a:ln/>
        </p:spPr>
        <p:txBody>
          <a:bodyPr wrap="none" lIns="0" tIns="0" rIns="0" bIns="0" rtlCol="0" anchor="t"/>
          <a:lstStyle/>
          <a:p>
            <a:pPr marL="0" indent="0" algn="l">
              <a:lnSpc>
                <a:spcPct val="104000"/>
              </a:lnSpc>
              <a:buNone/>
            </a:pPr>
            <a:r>
              <a:rPr lang="en-US" sz="2750" dirty="0">
                <a:solidFill>
                  <a:srgbClr val="EEAEF6"/>
                </a:solidFill>
                <a:latin typeface="Bricolage Grotesque ExtraBold" pitchFamily="34" charset="0"/>
                <a:ea typeface="Bricolage Grotesque ExtraBold" pitchFamily="34" charset="-122"/>
                <a:cs typeface="Bricolage Grotesque ExtraBold" pitchFamily="34" charset="-120"/>
              </a:rPr>
              <a:t>Key Advantages &amp; Impact</a:t>
            </a:r>
            <a:endParaRPr lang="en-US" sz="275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33360" y="1171873"/>
            <a:ext cx="354401" cy="354409"/>
          </a:xfrm>
          <a:prstGeom prst="rect">
            <a:avLst/>
          </a:prstGeom>
        </p:spPr>
      </p:pic>
      <p:sp>
        <p:nvSpPr>
          <p:cNvPr id="5" name="Text 1"/>
          <p:cNvSpPr/>
          <p:nvPr/>
        </p:nvSpPr>
        <p:spPr>
          <a:xfrm>
            <a:off x="5233360" y="1659136"/>
            <a:ext cx="6296860" cy="221456"/>
          </a:xfrm>
          <a:prstGeom prst="rect">
            <a:avLst/>
          </a:prstGeom>
          <a:noFill/>
          <a:ln/>
        </p:spPr>
        <p:txBody>
          <a:bodyPr wrap="none" lIns="0" tIns="0" rIns="0" bIns="0" rtlCol="0" anchor="t"/>
          <a:lstStyle/>
          <a:p>
            <a:pPr marL="0" indent="0" algn="l">
              <a:lnSpc>
                <a:spcPct val="104000"/>
              </a:lnSpc>
              <a:buNone/>
            </a:pPr>
            <a:r>
              <a:rPr lang="en-US" sz="1350" dirty="0">
                <a:solidFill>
                  <a:srgbClr val="E5DCE6"/>
                </a:solidFill>
                <a:latin typeface="Bricolage Grotesque ExtraBold" pitchFamily="34" charset="0"/>
                <a:ea typeface="Bricolage Grotesque ExtraBold" pitchFamily="34" charset="-122"/>
                <a:cs typeface="Bricolage Grotesque ExtraBold" pitchFamily="34" charset="-120"/>
              </a:rPr>
              <a:t>Energy Efficiency</a:t>
            </a:r>
            <a:endParaRPr lang="en-US" sz="1350" dirty="0"/>
          </a:p>
        </p:txBody>
      </p:sp>
      <p:sp>
        <p:nvSpPr>
          <p:cNvPr id="6" name="Text 2"/>
          <p:cNvSpPr/>
          <p:nvPr/>
        </p:nvSpPr>
        <p:spPr>
          <a:xfrm>
            <a:off x="5233360" y="1944291"/>
            <a:ext cx="6296860"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5DCE6"/>
                </a:solidFill>
                <a:latin typeface="Montserrat" pitchFamily="34" charset="0"/>
                <a:ea typeface="Montserrat" pitchFamily="34" charset="-122"/>
                <a:cs typeface="Montserrat" pitchFamily="34" charset="-120"/>
              </a:rPr>
              <a:t>Avoids unnecessary full-night lighting by dimming when roads are empty, cutting consumption significantly.</a:t>
            </a:r>
            <a:endParaRPr lang="en-US" sz="11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233360" y="2553791"/>
            <a:ext cx="354401" cy="354409"/>
          </a:xfrm>
          <a:prstGeom prst="rect">
            <a:avLst/>
          </a:prstGeom>
        </p:spPr>
      </p:pic>
      <p:sp>
        <p:nvSpPr>
          <p:cNvPr id="8" name="Text 3"/>
          <p:cNvSpPr/>
          <p:nvPr/>
        </p:nvSpPr>
        <p:spPr>
          <a:xfrm>
            <a:off x="5233360" y="3041055"/>
            <a:ext cx="6296860" cy="221456"/>
          </a:xfrm>
          <a:prstGeom prst="rect">
            <a:avLst/>
          </a:prstGeom>
          <a:noFill/>
          <a:ln/>
        </p:spPr>
        <p:txBody>
          <a:bodyPr wrap="none" lIns="0" tIns="0" rIns="0" bIns="0" rtlCol="0" anchor="t"/>
          <a:lstStyle/>
          <a:p>
            <a:pPr marL="0" indent="0" algn="l">
              <a:lnSpc>
                <a:spcPct val="104000"/>
              </a:lnSpc>
              <a:buNone/>
            </a:pPr>
            <a:r>
              <a:rPr lang="en-US" sz="1350" dirty="0">
                <a:solidFill>
                  <a:srgbClr val="E5DCE6"/>
                </a:solidFill>
                <a:latin typeface="Bricolage Grotesque ExtraBold" pitchFamily="34" charset="0"/>
                <a:ea typeface="Bricolage Grotesque ExtraBold" pitchFamily="34" charset="-122"/>
                <a:cs typeface="Bricolage Grotesque ExtraBold" pitchFamily="34" charset="-120"/>
              </a:rPr>
              <a:t>Improved Safety</a:t>
            </a:r>
            <a:endParaRPr lang="en-US" sz="1350" dirty="0"/>
          </a:p>
        </p:txBody>
      </p:sp>
      <p:sp>
        <p:nvSpPr>
          <p:cNvPr id="9" name="Text 4"/>
          <p:cNvSpPr/>
          <p:nvPr/>
        </p:nvSpPr>
        <p:spPr>
          <a:xfrm>
            <a:off x="5233360" y="3326209"/>
            <a:ext cx="6296860"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5DCE6"/>
                </a:solidFill>
                <a:latin typeface="Montserrat" pitchFamily="34" charset="0"/>
                <a:ea typeface="Montserrat" pitchFamily="34" charset="-122"/>
                <a:cs typeface="Montserrat" pitchFamily="34" charset="-120"/>
              </a:rPr>
              <a:t>Instantly brightens when people or vehicles are detected, ensuring visibility exactly when it matters.</a:t>
            </a:r>
            <a:endParaRPr lang="en-US" sz="11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33360" y="3935710"/>
            <a:ext cx="354401" cy="354409"/>
          </a:xfrm>
          <a:prstGeom prst="rect">
            <a:avLst/>
          </a:prstGeom>
        </p:spPr>
      </p:pic>
      <p:sp>
        <p:nvSpPr>
          <p:cNvPr id="11" name="Text 5"/>
          <p:cNvSpPr/>
          <p:nvPr/>
        </p:nvSpPr>
        <p:spPr>
          <a:xfrm>
            <a:off x="5233360" y="4422973"/>
            <a:ext cx="6296860" cy="221456"/>
          </a:xfrm>
          <a:prstGeom prst="rect">
            <a:avLst/>
          </a:prstGeom>
          <a:noFill/>
          <a:ln/>
        </p:spPr>
        <p:txBody>
          <a:bodyPr wrap="none" lIns="0" tIns="0" rIns="0" bIns="0" rtlCol="0" anchor="t"/>
          <a:lstStyle/>
          <a:p>
            <a:pPr marL="0" indent="0" algn="l">
              <a:lnSpc>
                <a:spcPct val="104000"/>
              </a:lnSpc>
              <a:buNone/>
            </a:pPr>
            <a:r>
              <a:rPr lang="en-US" sz="1350" dirty="0">
                <a:solidFill>
                  <a:srgbClr val="E5DCE6"/>
                </a:solidFill>
                <a:latin typeface="Bricolage Grotesque ExtraBold" pitchFamily="34" charset="0"/>
                <a:ea typeface="Bricolage Grotesque ExtraBold" pitchFamily="34" charset="-122"/>
                <a:cs typeface="Bricolage Grotesque ExtraBold" pitchFamily="34" charset="-120"/>
              </a:rPr>
              <a:t>Lower Maintenance</a:t>
            </a:r>
            <a:endParaRPr lang="en-US" sz="1350" dirty="0"/>
          </a:p>
        </p:txBody>
      </p:sp>
      <p:sp>
        <p:nvSpPr>
          <p:cNvPr id="12" name="Text 6"/>
          <p:cNvSpPr/>
          <p:nvPr/>
        </p:nvSpPr>
        <p:spPr>
          <a:xfrm>
            <a:off x="5233360" y="4708128"/>
            <a:ext cx="6296860" cy="396875"/>
          </a:xfrm>
          <a:prstGeom prst="rect">
            <a:avLst/>
          </a:prstGeom>
          <a:noFill/>
          <a:ln/>
        </p:spPr>
        <p:txBody>
          <a:bodyPr wrap="square" lIns="0" tIns="0" rIns="0" bIns="0" rtlCol="0" anchor="t">
            <a:normAutofit/>
          </a:bodyPr>
          <a:lstStyle/>
          <a:p>
            <a:pPr marL="0" indent="0" algn="l">
              <a:lnSpc>
                <a:spcPct val="117000"/>
              </a:lnSpc>
              <a:buNone/>
            </a:pPr>
            <a:r>
              <a:rPr lang="en-US" sz="1100" dirty="0">
                <a:solidFill>
                  <a:srgbClr val="E5DCE6"/>
                </a:solidFill>
                <a:latin typeface="Montserrat" pitchFamily="34" charset="0"/>
                <a:ea typeface="Montserrat" pitchFamily="34" charset="-122"/>
                <a:cs typeface="Montserrat" pitchFamily="34" charset="-120"/>
              </a:rPr>
              <a:t>Automation and fault monitoring reduce manual intervention and extend LED lamp lifespan.</a:t>
            </a:r>
            <a:endParaRPr lang="en-US" sz="11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33360" y="5317629"/>
            <a:ext cx="354401" cy="354409"/>
          </a:xfrm>
          <a:prstGeom prst="rect">
            <a:avLst/>
          </a:prstGeom>
        </p:spPr>
      </p:pic>
      <p:sp>
        <p:nvSpPr>
          <p:cNvPr id="14" name="Text 7"/>
          <p:cNvSpPr/>
          <p:nvPr/>
        </p:nvSpPr>
        <p:spPr>
          <a:xfrm>
            <a:off x="5233360" y="5804892"/>
            <a:ext cx="6296860" cy="221456"/>
          </a:xfrm>
          <a:prstGeom prst="rect">
            <a:avLst/>
          </a:prstGeom>
          <a:noFill/>
          <a:ln/>
        </p:spPr>
        <p:txBody>
          <a:bodyPr wrap="none" lIns="0" tIns="0" rIns="0" bIns="0" rtlCol="0" anchor="t"/>
          <a:lstStyle/>
          <a:p>
            <a:pPr marL="0" indent="0" algn="l">
              <a:lnSpc>
                <a:spcPct val="104000"/>
              </a:lnSpc>
              <a:buNone/>
            </a:pPr>
            <a:r>
              <a:rPr lang="en-US" sz="1350" dirty="0">
                <a:solidFill>
                  <a:srgbClr val="E5DCE6"/>
                </a:solidFill>
                <a:latin typeface="Bricolage Grotesque ExtraBold" pitchFamily="34" charset="0"/>
                <a:ea typeface="Bricolage Grotesque ExtraBold" pitchFamily="34" charset="-122"/>
                <a:cs typeface="Bricolage Grotesque ExtraBold" pitchFamily="34" charset="-120"/>
              </a:rPr>
              <a:t>Renewable Integration</a:t>
            </a:r>
            <a:endParaRPr lang="en-US" sz="1350" dirty="0"/>
          </a:p>
        </p:txBody>
      </p:sp>
      <p:sp>
        <p:nvSpPr>
          <p:cNvPr id="15" name="Text 8"/>
          <p:cNvSpPr/>
          <p:nvPr/>
        </p:nvSpPr>
        <p:spPr>
          <a:xfrm>
            <a:off x="5233360" y="6090047"/>
            <a:ext cx="6296860" cy="198438"/>
          </a:xfrm>
          <a:prstGeom prst="rect">
            <a:avLst/>
          </a:prstGeom>
          <a:noFill/>
          <a:ln/>
        </p:spPr>
        <p:txBody>
          <a:bodyPr wrap="none" lIns="0" tIns="0" rIns="0" bIns="0" rtlCol="0" anchor="t"/>
          <a:lstStyle/>
          <a:p>
            <a:pPr marL="0" indent="0" algn="l">
              <a:lnSpc>
                <a:spcPct val="117000"/>
              </a:lnSpc>
              <a:buNone/>
            </a:pPr>
            <a:r>
              <a:rPr lang="en-US" sz="1100" dirty="0">
                <a:solidFill>
                  <a:srgbClr val="E5DCE6"/>
                </a:solidFill>
                <a:latin typeface="Montserrat" pitchFamily="34" charset="0"/>
                <a:ea typeface="Montserrat" pitchFamily="34" charset="-122"/>
                <a:cs typeface="Montserrat" pitchFamily="34" charset="-120"/>
              </a:rPr>
              <a:t>Supports solar-powered operation, enabling fully off-grid and sus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8790" y="0"/>
                </a:moveTo>
                <a:lnTo>
                  <a:pt x="100000" y="0"/>
                </a:lnTo>
                <a:lnTo>
                  <a:pt x="100000" y="100000"/>
                </a:lnTo>
                <a:lnTo>
                  <a:pt x="13180" y="99900"/>
                </a:lnTo>
                <a:lnTo>
                  <a:pt x="8110" y="91990"/>
                </a:lnTo>
                <a:lnTo>
                  <a:pt x="4200" y="84670"/>
                </a:lnTo>
                <a:lnTo>
                  <a:pt x="2640" y="81150"/>
                </a:lnTo>
                <a:lnTo>
                  <a:pt x="1270" y="77440"/>
                </a:lnTo>
                <a:lnTo>
                  <a:pt x="490" y="74610"/>
                </a:lnTo>
                <a:lnTo>
                  <a:pt x="0" y="71480"/>
                </a:lnTo>
                <a:lnTo>
                  <a:pt x="200" y="67290"/>
                </a:lnTo>
                <a:lnTo>
                  <a:pt x="1270" y="63280"/>
                </a:lnTo>
                <a:lnTo>
                  <a:pt x="2830" y="59860"/>
                </a:lnTo>
                <a:lnTo>
                  <a:pt x="5080" y="56050"/>
                </a:lnTo>
                <a:lnTo>
                  <a:pt x="6840" y="52540"/>
                </a:lnTo>
                <a:lnTo>
                  <a:pt x="7910" y="49610"/>
                </a:lnTo>
                <a:lnTo>
                  <a:pt x="8690" y="45700"/>
                </a:lnTo>
                <a:lnTo>
                  <a:pt x="8790" y="40140"/>
                </a:lnTo>
                <a:lnTo>
                  <a:pt x="8590" y="36520"/>
                </a:lnTo>
                <a:lnTo>
                  <a:pt x="8110" y="31930"/>
                </a:lnTo>
                <a:lnTo>
                  <a:pt x="6540" y="21970"/>
                </a:lnTo>
                <a:lnTo>
                  <a:pt x="6150" y="14750"/>
                </a:lnTo>
                <a:lnTo>
                  <a:pt x="6450" y="10350"/>
                </a:lnTo>
                <a:lnTo>
                  <a:pt x="6930" y="7030"/>
                </a:lnTo>
                <a:lnTo>
                  <a:pt x="7910" y="2640"/>
                </a:lnTo>
                <a:close/>
              </a:path>
            </a:pathLst>
          </a:custGeom>
        </p:spPr>
      </p:pic>
      <p:sp>
        <p:nvSpPr>
          <p:cNvPr id="3" name="Text 0"/>
          <p:cNvSpPr/>
          <p:nvPr/>
        </p:nvSpPr>
        <p:spPr>
          <a:xfrm>
            <a:off x="661475" y="1524695"/>
            <a:ext cx="6296860" cy="590649"/>
          </a:xfrm>
          <a:prstGeom prst="rect">
            <a:avLst/>
          </a:prstGeom>
          <a:noFill/>
          <a:ln/>
        </p:spPr>
        <p:txBody>
          <a:bodyPr wrap="none" lIns="0" tIns="0" rIns="0" bIns="0" rtlCol="0" anchor="t"/>
          <a:lstStyle/>
          <a:p>
            <a:pPr marL="0" indent="0" algn="l">
              <a:lnSpc>
                <a:spcPct val="104000"/>
              </a:lnSpc>
              <a:buNone/>
            </a:pPr>
            <a:r>
              <a:rPr lang="en-US" sz="3700" dirty="0">
                <a:solidFill>
                  <a:srgbClr val="EEAEF6"/>
                </a:solidFill>
                <a:latin typeface="Bricolage Grotesque ExtraBold" pitchFamily="34" charset="0"/>
                <a:ea typeface="Bricolage Grotesque ExtraBold" pitchFamily="34" charset="-122"/>
                <a:cs typeface="Bricolage Grotesque ExtraBold" pitchFamily="34" charset="-120"/>
              </a:rPr>
              <a:t>Conclusion</a:t>
            </a:r>
            <a:endParaRPr lang="en-US" sz="3700" dirty="0"/>
          </a:p>
        </p:txBody>
      </p:sp>
      <p:sp>
        <p:nvSpPr>
          <p:cNvPr id="4" name="Text 1"/>
          <p:cNvSpPr/>
          <p:nvPr/>
        </p:nvSpPr>
        <p:spPr>
          <a:xfrm>
            <a:off x="661475" y="2398812"/>
            <a:ext cx="6296860" cy="2934395"/>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dirty="0">
                <a:solidFill>
                  <a:srgbClr val="E5DCE6"/>
                </a:solidFill>
                <a:latin typeface="Montserrat" pitchFamily="34" charset="0"/>
                <a:ea typeface="Montserrat" pitchFamily="34" charset="-122"/>
                <a:cs typeface="Montserrat" pitchFamily="34" charset="-120"/>
              </a:rPr>
              <a:t>Our project successfully designs and simulates an automatic street light control system that addresses significant energy waste in conventional setups. By dynamically adjusting lighting based on real-time ambient conditions and motion detection, the system achieves substantial energy savings, enhances public safety, and reduces operational costs.</a:t>
            </a:r>
            <a:endParaRPr lang="en-US" sz="1450" dirty="0"/>
          </a:p>
          <a:p>
            <a:pPr marL="0" indent="0" algn="l">
              <a:lnSpc>
                <a:spcPct val="133000"/>
              </a:lnSpc>
              <a:buNone/>
            </a:pPr>
            <a:r>
              <a:rPr lang="en-US" sz="1450" dirty="0">
                <a:solidFill>
                  <a:srgbClr val="E5DCE6"/>
                </a:solidFill>
                <a:latin typeface="Montserrat" pitchFamily="34" charset="0"/>
                <a:ea typeface="Montserrat" pitchFamily="34" charset="-122"/>
                <a:cs typeface="Montserrat" pitchFamily="34" charset="-120"/>
              </a:rPr>
              <a:t>This intelligent solution represents a crucial step towards creating smarter, more sustainable urban infrastructures, contributing to a greener future with improved efficiency and responsiveness.</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83F696-7334-0CA8-0E44-9379FC95F6A3}"/>
              </a:ext>
            </a:extLst>
          </p:cNvPr>
          <p:cNvPicPr>
            <a:picLocks noChangeAspect="1"/>
          </p:cNvPicPr>
          <p:nvPr/>
        </p:nvPicPr>
        <p:blipFill>
          <a:blip r:embed="rId2"/>
          <a:stretch>
            <a:fillRect/>
          </a:stretch>
        </p:blipFill>
        <p:spPr>
          <a:xfrm>
            <a:off x="2343833" y="0"/>
            <a:ext cx="7504334" cy="6858000"/>
          </a:xfrm>
          <a:prstGeom prst="rect">
            <a:avLst/>
          </a:prstGeom>
        </p:spPr>
      </p:pic>
    </p:spTree>
    <p:extLst>
      <p:ext uri="{BB962C8B-B14F-4D97-AF65-F5344CB8AC3E}">
        <p14:creationId xmlns:p14="http://schemas.microsoft.com/office/powerpoint/2010/main" val="2771858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656</Words>
  <Application>Microsoft Office PowerPoint</Application>
  <PresentationFormat>Widescreen</PresentationFormat>
  <Paragraphs>77</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Montserrat Bold</vt:lpstr>
      <vt:lpstr>Bricolage Grotesque Bold</vt:lpstr>
      <vt:lpstr>Bricolage Grotesque ExtraBold</vt:lpstr>
      <vt:lpstr>Arial</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P.Sujith Kumar</cp:lastModifiedBy>
  <cp:revision>3</cp:revision>
  <dcterms:created xsi:type="dcterms:W3CDTF">2026-09-12T05:13:21Z</dcterms:created>
  <dcterms:modified xsi:type="dcterms:W3CDTF">2026-09-12T09:02:16Z</dcterms:modified>
</cp:coreProperties>
</file>